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aleway"/>
      <p:regular r:id="rId40"/>
      <p:bold r:id="rId41"/>
      <p:italic r:id="rId42"/>
      <p:boldItalic r:id="rId43"/>
    </p:embeddedFont>
    <p:embeddedFont>
      <p:font typeface="Nunito"/>
      <p:regular r:id="rId44"/>
      <p:bold r:id="rId45"/>
      <p:italic r:id="rId46"/>
      <p:boldItalic r:id="rId47"/>
    </p:embeddedFont>
    <p:embeddedFont>
      <p:font typeface="La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BE9261-B838-4677-923B-441208D0DDF6}">
  <a:tblStyle styleId="{98BE9261-B838-4677-923B-441208D0DDF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42" Type="http://schemas.openxmlformats.org/officeDocument/2006/relationships/font" Target="fonts/Raleway-italic.fntdata"/><Relationship Id="rId41" Type="http://schemas.openxmlformats.org/officeDocument/2006/relationships/font" Target="fonts/Raleway-bold.fntdata"/><Relationship Id="rId44" Type="http://schemas.openxmlformats.org/officeDocument/2006/relationships/font" Target="fonts/Nunito-regular.fntdata"/><Relationship Id="rId43" Type="http://schemas.openxmlformats.org/officeDocument/2006/relationships/font" Target="fonts/Raleway-boldItalic.fntdata"/><Relationship Id="rId46" Type="http://schemas.openxmlformats.org/officeDocument/2006/relationships/font" Target="fonts/Nunito-italic.fntdata"/><Relationship Id="rId45"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ato-regular.fntdata"/><Relationship Id="rId47" Type="http://schemas.openxmlformats.org/officeDocument/2006/relationships/font" Target="fonts/Nunito-boldItalic.fntdata"/><Relationship Id="rId49" Type="http://schemas.openxmlformats.org/officeDocument/2006/relationships/font" Target="fonts/La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boldItalic.fntdata"/><Relationship Id="rId50" Type="http://schemas.openxmlformats.org/officeDocument/2006/relationships/font" Target="fonts/La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project focuses on identifying geographic hotspots of obesity risk across U.S. counties using socioeconomic and demographic data. Instead of looking only at obesity rates in isolation, we combine economic conditions, physical inactivity, and population composition to uncover patterns that can help public health agencies prioritize where to focus prevention and intervention efforts. The ultimate goal is to support </a:t>
            </a:r>
            <a:r>
              <a:rPr b="1" lang="en">
                <a:solidFill>
                  <a:schemeClr val="dk1"/>
                </a:solidFill>
              </a:rPr>
              <a:t>data-driven targeting of high-risk communities</a:t>
            </a:r>
            <a:r>
              <a:rPr lang="en">
                <a:solidFill>
                  <a:schemeClr val="dk1"/>
                </a:solidFill>
              </a:rPr>
              <a:t> rather than using one-size-fits-all strategies.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a7c31a35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a7c31a35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Obesity is one of the most significant public health challenges in the United States, contributing to chronic diseases such as diabetes, heart disease, and hypertension. The economic burden is also enormous, with obesity-related healthcare costs estimated in the hundreds of billions annually. Importantly, obesity does not affect all communities equally — there are strong geographic, racial, and socioeconomic disparities. Understanding </a:t>
            </a:r>
            <a:r>
              <a:rPr b="1" lang="en">
                <a:solidFill>
                  <a:schemeClr val="dk1"/>
                </a:solidFill>
              </a:rPr>
              <a:t>where risk is highest and why</a:t>
            </a:r>
            <a:r>
              <a:rPr lang="en">
                <a:solidFill>
                  <a:schemeClr val="dk1"/>
                </a:solidFill>
              </a:rPr>
              <a:t> allows policymakers to allocate limited prevention resources more effectively and equitably.</a:t>
            </a:r>
            <a:endParaRPr>
              <a:solidFill>
                <a:schemeClr val="dk1"/>
              </a:solidFill>
            </a:endParaRPr>
          </a:p>
          <a:p>
            <a:pPr indent="0" lvl="0" marL="0" rtl="0" algn="l">
              <a:lnSpc>
                <a:spcPct val="115000"/>
              </a:lnSpc>
              <a:spcBef>
                <a:spcPts val="0"/>
              </a:spcBef>
              <a:spcAft>
                <a:spcPts val="0"/>
              </a:spcAft>
              <a:buNone/>
            </a:pPr>
            <a:r>
              <a:t/>
            </a:r>
            <a:endParaRPr sz="1350">
              <a:solidFill>
                <a:schemeClr val="dk1"/>
              </a:solidFill>
              <a:highlight>
                <a:srgbClr val="FFFFFF"/>
              </a:highlight>
              <a:latin typeface="Nunito"/>
              <a:ea typeface="Nunito"/>
              <a:cs typeface="Nunito"/>
              <a:sym typeface="Nunito"/>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a7c31a35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a7c31a35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a7c31a35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a7c31a35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a7c31a353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a7c31a353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central business problem we address is that public health agencies and policymakers often lack precise, data-driven tools to </a:t>
            </a:r>
            <a:r>
              <a:rPr b="1" lang="en">
                <a:solidFill>
                  <a:schemeClr val="dk1"/>
                </a:solidFill>
              </a:rPr>
              <a:t>identify which counties should be prioritized for obesity prevention programs</a:t>
            </a:r>
            <a:r>
              <a:rPr lang="en">
                <a:solidFill>
                  <a:schemeClr val="dk1"/>
                </a:solidFill>
              </a:rPr>
              <a:t>. Most existing approaches rely on single variables such as obesity rate alone or broad state-level averages, which hide important county-level differences. However, obesity is not caused by just one factor — it emerges from a combination of </a:t>
            </a:r>
            <a:r>
              <a:rPr b="1" lang="en">
                <a:solidFill>
                  <a:schemeClr val="dk1"/>
                </a:solidFill>
              </a:rPr>
              <a:t>poverty, unemployment, income, physical inactivity, education, and population demographics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these risk factors interact in complex ways, it becomes difficult to manually determine where the true high-risk communities are. Our project directly addresses this challenge by using </a:t>
            </a:r>
            <a:r>
              <a:rPr b="1" lang="en">
                <a:solidFill>
                  <a:schemeClr val="dk1"/>
                </a:solidFill>
              </a:rPr>
              <a:t>unsupervised machine learning to group counties based on multiple socioeconomic and demographic dimensions simultaneously</a:t>
            </a:r>
            <a:r>
              <a:rPr lang="en">
                <a:solidFill>
                  <a:schemeClr val="dk1"/>
                </a:solidFill>
              </a:rPr>
              <a:t>. Instead of asking, “Which counties have high obesity?”, we ask, “Which counties share the same structural risk patterns?” This allows us to identify </a:t>
            </a:r>
            <a:r>
              <a:rPr b="1" lang="en">
                <a:solidFill>
                  <a:schemeClr val="dk1"/>
                </a:solidFill>
              </a:rPr>
              <a:t>true obesity risk hotspots</a:t>
            </a:r>
            <a:r>
              <a:rPr lang="en">
                <a:solidFill>
                  <a:schemeClr val="dk1"/>
                </a:solidFill>
              </a:rPr>
              <a:t> and provide a scalable, data-driven framework for targeting public health resources more effectively.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ab9c994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ab9c994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a7c31a353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a7c31a353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a7c31a353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a7c31a353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a7c31a353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a7c31a35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d7f6625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d7f6625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8aaf612695ee56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8aaf612695ee56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Mean Neighbors: 5.80</a:t>
            </a:r>
            <a:br>
              <a:rPr b="1" lang="en">
                <a:solidFill>
                  <a:schemeClr val="dk1"/>
                </a:solidFill>
              </a:rPr>
            </a:b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Obesity is </a:t>
            </a:r>
            <a:r>
              <a:rPr b="1" lang="en">
                <a:solidFill>
                  <a:schemeClr val="dk1"/>
                </a:solidFill>
              </a:rPr>
              <a:t>not randomly distributed</a:t>
            </a:r>
            <a:endParaRPr b="1">
              <a:solidFill>
                <a:schemeClr val="dk1"/>
              </a:solidFill>
            </a:endParaRPr>
          </a:p>
          <a:p>
            <a:pPr indent="0" lvl="0" marL="0" rtl="0" algn="l">
              <a:spcBef>
                <a:spcPts val="0"/>
              </a:spcBef>
              <a:spcAft>
                <a:spcPts val="0"/>
              </a:spcAft>
              <a:buNone/>
            </a:pPr>
            <a:r>
              <a:rPr lang="en"/>
              <a:t>Before clustering or prediction, we first tested whether obesity is even spatially structured. Moran’s I shows a value of 0.34 with a p-value of 0.001, confirming strong and statistically significant regional clustering. This validates the use of spatial and regional modeling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dentifies </a:t>
            </a:r>
            <a:r>
              <a:rPr b="1" lang="en">
                <a:solidFill>
                  <a:schemeClr val="dk1"/>
                </a:solidFill>
              </a:rPr>
              <a:t>local high-risk obesity clusters</a:t>
            </a:r>
            <a:br>
              <a:rPr b="1" lang="en">
                <a:solidFill>
                  <a:schemeClr val="dk1"/>
                </a:solidFill>
              </a:rPr>
            </a:b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Hotspots require:</a:t>
            </a:r>
            <a:br>
              <a:rPr lang="en">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 obesity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High-obesity neighbors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95% statistical confidence</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Only </a:t>
            </a:r>
            <a:r>
              <a:rPr b="1" lang="en">
                <a:solidFill>
                  <a:schemeClr val="dk1"/>
                </a:solidFill>
              </a:rPr>
              <a:t>a small number of extreme emergency zones</a:t>
            </a:r>
            <a:r>
              <a:rPr lang="en">
                <a:solidFill>
                  <a:schemeClr val="dk1"/>
                </a:solidFill>
              </a:rPr>
              <a:t> were detected</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Using Getis-Ord Gi-star, we localized statistically significant obesity emergency clusters. These are not just high counties individually, but tightly packed regional high-risk zones that demand coordinated intervention.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Casual Modeling</a:t>
            </a:r>
            <a:endParaRPr/>
          </a:p>
          <a:p>
            <a:pPr indent="0" lvl="0" marL="0" rtl="0" algn="l">
              <a:spcBef>
                <a:spcPts val="0"/>
              </a:spcBef>
              <a:spcAft>
                <a:spcPts val="0"/>
              </a:spcAft>
              <a:buNone/>
            </a:pPr>
            <a:r>
              <a:rPr lang="en">
                <a:solidFill>
                  <a:schemeClr val="dk1"/>
                </a:solidFill>
              </a:rPr>
              <a:t>We estimate the effect of </a:t>
            </a:r>
            <a:r>
              <a:rPr b="1" lang="en">
                <a:solidFill>
                  <a:schemeClr val="dk1"/>
                </a:solidFill>
              </a:rPr>
              <a:t>household income on obesity</a:t>
            </a:r>
            <a:r>
              <a:rPr lang="en">
                <a:solidFill>
                  <a:schemeClr val="dk1"/>
                </a:solidFill>
              </a:rPr>
              <a:t>, controlling for physical inactivity, poverty, and demographics using OLS regression across 3,121 U.S. counties.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move beyond correlation, we estimated a controlled regression model treating physical inactivity as the intervention variable and obesity as the outcome, while controlling for income, poverty, and race. Physical inactivity remains an extremely strong and statistically significant independent driver of obesity, with a coefficient of 0.79 and p-value below 0.001. This means that even after accounting for socio-economic and demographic differences, inactivity alone strongly drives obesity. This provides causal justification for our intervention efficiency simulations.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ab9c994f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ab9c994f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ab9c994f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ab9c994f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initially explored whether U.S. counties naturally form discrete obesity risk groups using unsupervised learning. However, the data exhibited a largely continuous risk spectrum rather than clearly separable clusters.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We applied multiple unsupervised clustering algorithms to test whether counties naturally fall into distinct obesity risk groups. However, across all evaluation metrics, the clusters showed weak separation and heavy overlap. This indicates that obesity risk behaves as a continuous gradient rather than naturally forming clean categories. Because clustering could not provide actionable segmentation, we transitioned to a supervised learning approach focused on prediction and intervention targeting.</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Objective shifted from </a:t>
            </a:r>
            <a:r>
              <a:rPr b="1" lang="en">
                <a:solidFill>
                  <a:schemeClr val="dk1"/>
                </a:solidFill>
              </a:rPr>
              <a:t>segmentation → prediction</a:t>
            </a:r>
            <a:br>
              <a:rPr b="1" lang="en">
                <a:solidFill>
                  <a:schemeClr val="dk1"/>
                </a:solidFill>
              </a:rPr>
            </a:b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Predict county-level obesity using: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Economic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Behavioral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Demographic features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Enables: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Model validation (R², RMSE)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Explainability (SHAP)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Policy simulation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System failure detection via residuals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ab9c994f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ab9c994f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acc3bc29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acc3bc29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unsupervised learning revealed that obesity risk is continuous rather than clustered, we re-framed the problem as a supervised regression task. Instead of grouping counties, we trained a predictive model to estimate obesity based on socioeconomic, behavioral, and demographic drivers. This allowed us to not only predict obesity accurately, but also to quantify where outcomes deviated from expectations, enabling targeted policy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Linear models assume linear relationships and additive effects. In public health data, drivers like poverty and inactivity interact in highly non-linear ways. Early EDA and mutual information confirmed strong non-linear dependency. Therefore, linear regression was not flexible enough and would underfit.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KNN works by comparing how close counties are to each other using distance. But in our case, poverty, income, inactivity, and race do not combine into a meaningful geometric distance. Two counties can be numerically close but socially very different. KNN also does not scale well and performs poorly with noisy, real-world public health data.</a:t>
            </a:r>
            <a:endParaRPr/>
          </a:p>
          <a:p>
            <a:pPr indent="0" lvl="0" marL="0" rtl="0" algn="l">
              <a:spcBef>
                <a:spcPts val="0"/>
              </a:spcBef>
              <a:spcAft>
                <a:spcPts val="0"/>
              </a:spcAft>
              <a:buNone/>
            </a:pPr>
            <a:r>
              <a:rPr lang="en"/>
              <a:t>Neural networks are powerful for images and very large datasets, but our dataset has only a few thousand counties with structured socioeconomic features. A neural network would be overkill, harder to tune, and much harder to explain. Public health agencies need transparent models they can trust.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trained multiple tree-based regression models using five-fold cross-validation and hyperparameter tuning. Gradient Boosting trained on all feature groups achieved the best performance, explaining approximately 44% of the variance in county-level obesity with a low prediction error.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acc3bc29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acc3bc29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b784ad2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b784ad2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b784ad24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b784ad24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Economic resources buffer the health damage of inactivity.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8aaf612695ee56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8aaf612695ee56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8aaf612695ee56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8aaf612695ee56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validate model trustworthiness, we analyzed prediction errors in three ways. First, actual versus predicted obesity values align closely along the diagonal, indicating good overall fit. Second, the residual distribution is centered near zero, showing no systematic over- or under-prediction. Third, prediction error is consistent across income quintiles, indicating that the model does not disproportionately fail on low-income or high-income counties. This confirms that our predictions are stable and equitable.</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050">
                <a:solidFill>
                  <a:srgbClr val="1F1F1F"/>
                </a:solidFill>
                <a:highlight>
                  <a:srgbClr val="FFFFFF"/>
                </a:highlight>
              </a:rPr>
              <a:t>np.float64(0.8159746982153504)</a:t>
            </a:r>
            <a:endParaRPr sz="1050">
              <a:solidFill>
                <a:srgbClr val="1F1F1F"/>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479331b0394ec77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479331b0394ec77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479331b0394ec77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479331b0394ec77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captures long-term structural risk. Instead of looking at just 2023, we average 14 years of obesity and its socioeconomic drivers. The clusters represent counties that are structurally trapped in high risk versus those that are consistently low risk. This tells agencies where obesity is a chronic, deeply rooted problem.</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your data, obesity roughly lies in this range: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Min ≈ 0.15</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Max ≈ 0.45</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Most counties lie between ≈ 0.28 – 0.36</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That’s a </a:t>
            </a:r>
            <a:r>
              <a:rPr b="1" lang="en">
                <a:solidFill>
                  <a:schemeClr val="dk1"/>
                </a:solidFill>
              </a:rPr>
              <a:t>tight natural range</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even a </a:t>
            </a:r>
            <a:r>
              <a:rPr b="1" lang="en">
                <a:solidFill>
                  <a:schemeClr val="dk1"/>
                </a:solidFill>
              </a:rPr>
              <a:t>0.02–0.03 difference (2–3%)</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Is </a:t>
            </a:r>
            <a:r>
              <a:rPr b="1" lang="en">
                <a:solidFill>
                  <a:schemeClr val="dk1"/>
                </a:solidFill>
              </a:rPr>
              <a:t>statistically meaningful</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still looks </a:t>
            </a:r>
            <a:r>
              <a:rPr b="1" lang="en">
                <a:solidFill>
                  <a:schemeClr val="dk1"/>
                </a:solidFill>
              </a:rPr>
              <a:t>numerically small</a:t>
            </a:r>
            <a:br>
              <a:rPr b="1" lang="en">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Cluster 0: 0.307</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Cluster 1: 0.281</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That’s a </a:t>
            </a:r>
            <a:r>
              <a:rPr b="1" lang="en">
                <a:solidFill>
                  <a:schemeClr val="dk1"/>
                </a:solidFill>
              </a:rPr>
              <a:t>~2.6 percentage point population difference</a:t>
            </a:r>
            <a:r>
              <a:rPr lang="en">
                <a:solidFill>
                  <a:schemeClr val="dk1"/>
                </a:solidFill>
              </a:rPr>
              <a:t>, which is </a:t>
            </a:r>
            <a:r>
              <a:rPr b="1" lang="en">
                <a:solidFill>
                  <a:schemeClr val="dk1"/>
                </a:solidFill>
              </a:rPr>
              <a:t>huge at county scale</a:t>
            </a:r>
            <a:r>
              <a:rPr lang="en">
                <a:solidFill>
                  <a:schemeClr val="dk1"/>
                </a:solidFill>
              </a:rPr>
              <a:t>.</a:t>
            </a:r>
            <a:endParaRPr>
              <a:solidFill>
                <a:schemeClr val="dk1"/>
              </a:solidFill>
            </a:endParaRPr>
          </a:p>
          <a:p>
            <a:pPr indent="0" lvl="0" marL="0" rtl="0" algn="l">
              <a:spcBef>
                <a:spcPts val="1200"/>
              </a:spcBef>
              <a:spcAft>
                <a:spcPts val="0"/>
              </a:spcAft>
              <a:buNone/>
            </a:pPr>
            <a:r>
              <a:rPr lang="en">
                <a:solidFill>
                  <a:schemeClr val="dk1"/>
                </a:solidFill>
              </a:rPr>
              <a:t>Although obesity differs only slightly between the two clusters, the clusters are clearly separated by </a:t>
            </a:r>
            <a:r>
              <a:rPr b="1" lang="en">
                <a:solidFill>
                  <a:schemeClr val="dk1"/>
                </a:solidFill>
              </a:rPr>
              <a:t>socioeconomic vulnerability, physical inactivity, and income</a:t>
            </a:r>
            <a:r>
              <a:rPr lang="en">
                <a:solidFill>
                  <a:schemeClr val="dk1"/>
                </a:solidFill>
              </a:rPr>
              <a:t>. This suggests that obesity is </a:t>
            </a:r>
            <a:r>
              <a:rPr b="1" lang="en">
                <a:solidFill>
                  <a:schemeClr val="dk1"/>
                </a:solidFill>
              </a:rPr>
              <a:t>structurally embedded in broader economic and access conditions</a:t>
            </a:r>
            <a:r>
              <a:rPr lang="en">
                <a:solidFill>
                  <a:schemeClr val="dk1"/>
                </a:solidFill>
              </a:rPr>
              <a:t>, not just a singular isolated outcome.”</a:t>
            </a:r>
            <a:endParaRPr>
              <a:solidFill>
                <a:schemeClr val="dk1"/>
              </a:solidFill>
            </a:endParaRPr>
          </a:p>
          <a:p>
            <a:pPr indent="0" lvl="0" marL="0" rtl="0" algn="l">
              <a:spcBef>
                <a:spcPts val="0"/>
              </a:spcBef>
              <a:spcAft>
                <a:spcPts val="0"/>
              </a:spcAft>
              <a:buNone/>
            </a:pPr>
            <a:r>
              <a:rPr lang="en">
                <a:solidFill>
                  <a:schemeClr val="dk1"/>
                </a:solidFill>
              </a:rPr>
              <a:t>Even small differences in obesity percentage represent </a:t>
            </a:r>
            <a:r>
              <a:rPr b="1" lang="en">
                <a:solidFill>
                  <a:schemeClr val="dk1"/>
                </a:solidFill>
              </a:rPr>
              <a:t>thousands of additional affected individuals per county</a:t>
            </a:r>
            <a:r>
              <a:rPr lang="en">
                <a:solidFill>
                  <a:schemeClr val="dk1"/>
                </a:solidFill>
              </a:rPr>
              <a:t>.</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479331b0394ec77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479331b0394ec77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479331b0394ec77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479331b0394ec77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479331b0394ec77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479331b0394ec77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is our early-warning system. Instead of just predicting obesity, we compare what the model expects versus what actually happens. If a county’s obesity is much higher than predicted, it signals that interventions or health systems are underperforming. This lets agencies detect silent failures before they turn into full-scale public health crises.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479331b0394ec77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479331b0394ec77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acc3bc29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acc3bc29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Supervised learning gave us far more than just predictions. It enabled residual analysis to identify counties performing worse or better than expected, SHAP explainability to understand why obesity is high, and policy simulation to estimate intervention impact. For example, our model predicts that a 10% national reduction in physical inactivity could reduce obesity by about 1.57 percentage points, which corresponds to millions of fewer obesity cases</a:t>
            </a:r>
            <a:br>
              <a:rPr lang="en"/>
            </a:br>
            <a:endParaRPr/>
          </a:p>
          <a:p>
            <a:pPr indent="0" lvl="0" marL="0" rtl="0" algn="l">
              <a:spcBef>
                <a:spcPts val="1200"/>
              </a:spcBef>
              <a:spcAft>
                <a:spcPts val="0"/>
              </a:spcAft>
              <a:buNone/>
            </a:pPr>
            <a:r>
              <a:rPr lang="en"/>
              <a:t>Supervised learning gave us far more than just predictions. It allowed us to identify counties that perform worse than expected, even after accounting for socioeconomic and behavioral risk. Using SHAP, we found that physical inactivity is the strongest driver of obesity. We then simulated a 10% reduction in inactivity and observed a predicted 1.57 percentage-point national obesity drop, which translates to millions of prevented cases. This transforms our model from a predictor into a policy decision-support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Clustering assumes that natural group boundaries exist in the data. However, county-level obesity risk is influenced by gradual changes in income, behavior, and environment, which produces a continuous risk surface rather than discrete classes. Supervised learning is better suited for this epidemiological structure because it models continuous outcomes and allows causal-style simulations.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MCDM(Multi-Criteria Decision Model) rank tells us which counties have the most dangerous conditions for obesity in the future, even if obesity is low today.</a:t>
            </a:r>
            <a:endParaRPr/>
          </a:p>
          <a:p>
            <a:pPr indent="0" lvl="0" marL="0" rtl="0" algn="l">
              <a:spcBef>
                <a:spcPts val="0"/>
              </a:spcBef>
              <a:spcAft>
                <a:spcPts val="0"/>
              </a:spcAft>
              <a:buClr>
                <a:schemeClr val="dk1"/>
              </a:buClr>
              <a:buSzPts val="1100"/>
              <a:buFont typeface="Arial"/>
              <a:buNone/>
            </a:pPr>
            <a:r>
              <a:rPr lang="en">
                <a:solidFill>
                  <a:schemeClr val="dk1"/>
                </a:solidFill>
              </a:rPr>
              <a:t>A </a:t>
            </a:r>
            <a:r>
              <a:rPr b="1" lang="en">
                <a:solidFill>
                  <a:schemeClr val="dk1"/>
                </a:solidFill>
              </a:rPr>
              <a:t>future-focused vulnerability ranking</a:t>
            </a:r>
            <a:br>
              <a:rPr b="1" lang="en">
                <a:solidFill>
                  <a:schemeClr val="dk1"/>
                </a:solidFill>
              </a:rPr>
            </a:b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 </a:t>
            </a:r>
            <a:r>
              <a:rPr b="1" lang="en">
                <a:solidFill>
                  <a:schemeClr val="dk1"/>
                </a:solidFill>
              </a:rPr>
              <a:t>preventive priority list</a:t>
            </a:r>
            <a:br>
              <a:rPr b="1" lang="en">
                <a:solidFill>
                  <a:schemeClr val="dk1"/>
                </a:solidFill>
              </a:rPr>
            </a:b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 </a:t>
            </a:r>
            <a:r>
              <a:rPr b="1" lang="en">
                <a:solidFill>
                  <a:schemeClr val="dk1"/>
                </a:solidFill>
              </a:rPr>
              <a:t>structural risk assessment</a:t>
            </a:r>
            <a:br>
              <a:rPr b="1" lang="en">
                <a:solidFill>
                  <a:schemeClr val="dk1"/>
                </a:solidFill>
              </a:rPr>
            </a:b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 </a:t>
            </a:r>
            <a:r>
              <a:rPr b="1" lang="en">
                <a:solidFill>
                  <a:schemeClr val="dk1"/>
                </a:solidFill>
              </a:rPr>
              <a:t>non-obesity-based ranking of danger</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b784ad24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b784ad24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b784ad24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ab784ad24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uniform 10% reduction in physical inactivity leads to an average national obesity reduction of approximately 1.3–1.6 percentage points. However, efficiency varies widely across counties, enabling targeted high-return intervention planning.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SHAP	                       Which factors matter most</a:t>
            </a:r>
            <a:endParaRPr/>
          </a:p>
          <a:p>
            <a:pPr indent="0" lvl="0" marL="0" rtl="0" algn="l">
              <a:spcBef>
                <a:spcPts val="0"/>
              </a:spcBef>
              <a:spcAft>
                <a:spcPts val="0"/>
              </a:spcAft>
              <a:buNone/>
            </a:pPr>
            <a:r>
              <a:rPr lang="en"/>
              <a:t>MCDM Risk	            Where future vulnerability exists</a:t>
            </a:r>
            <a:endParaRPr/>
          </a:p>
          <a:p>
            <a:pPr indent="0" lvl="0" marL="0" rtl="0" algn="l">
              <a:spcBef>
                <a:spcPts val="0"/>
              </a:spcBef>
              <a:spcAft>
                <a:spcPts val="0"/>
              </a:spcAft>
              <a:buNone/>
            </a:pPr>
            <a:r>
              <a:rPr lang="en"/>
              <a:t>Residuals	             Where programs are failing or succeeding</a:t>
            </a:r>
            <a:endParaRPr/>
          </a:p>
          <a:p>
            <a:pPr indent="0" lvl="0" marL="0" rtl="0" algn="l">
              <a:spcBef>
                <a:spcPts val="0"/>
              </a:spcBef>
              <a:spcAft>
                <a:spcPts val="0"/>
              </a:spcAft>
              <a:buNone/>
            </a:pPr>
            <a:r>
              <a:rPr lang="en"/>
              <a:t>Efficiency Score	Where activity programs give maximum return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b784ad24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b784ad24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b784ad24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ab784ad24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b784ad24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ab784ad24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b784ad24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b784ad24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cdc.gov/physicalactivity/downloads/unfit-to-serve-062322-508.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www.ruralhealthinfo.org" TargetMode="External"/><Relationship Id="rId4" Type="http://schemas.openxmlformats.org/officeDocument/2006/relationships/hyperlink" Target="http://www.ruralhealthinfo.org" TargetMode="External"/><Relationship Id="rId5" Type="http://schemas.openxmlformats.org/officeDocument/2006/relationships/hyperlink" Target="http://www.census.gov" TargetMode="External"/><Relationship Id="rId6" Type="http://schemas.openxmlformats.org/officeDocument/2006/relationships/hyperlink" Target="http://www.ers.usda.gov" TargetMode="External"/><Relationship Id="rId7" Type="http://schemas.openxmlformats.org/officeDocument/2006/relationships/hyperlink" Target="http://www.cdc.go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16.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5.png"/><Relationship Id="rId5" Type="http://schemas.openxmlformats.org/officeDocument/2006/relationships/image" Target="../media/image33.png"/><Relationship Id="rId6"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6.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9.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2.png"/><Relationship Id="rId4" Type="http://schemas.openxmlformats.org/officeDocument/2006/relationships/image" Target="../media/image41.png"/><Relationship Id="rId5"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Obesity Risk Analytics</a:t>
            </a:r>
            <a:endParaRPr/>
          </a:p>
        </p:txBody>
      </p:sp>
      <p:sp>
        <p:nvSpPr>
          <p:cNvPr id="87" name="Google Shape;87;p13"/>
          <p:cNvSpPr txBox="1"/>
          <p:nvPr>
            <p:ph idx="1" type="subTitle"/>
          </p:nvPr>
        </p:nvSpPr>
        <p:spPr>
          <a:xfrm>
            <a:off x="729625" y="3172900"/>
            <a:ext cx="7688100" cy="109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Ullas Basavapatna Chandrashekar</a:t>
            </a:r>
            <a:endParaRPr/>
          </a:p>
          <a:p>
            <a:pPr indent="0" lvl="0" marL="0" rtl="0" algn="l">
              <a:spcBef>
                <a:spcPts val="0"/>
              </a:spcBef>
              <a:spcAft>
                <a:spcPts val="0"/>
              </a:spcAft>
              <a:buNone/>
            </a:pPr>
            <a:r>
              <a:rPr lang="en"/>
              <a:t>Vishrutha Ravi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5687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It Matters?</a:t>
            </a:r>
            <a:endParaRPr/>
          </a:p>
        </p:txBody>
      </p:sp>
      <p:sp>
        <p:nvSpPr>
          <p:cNvPr id="93" name="Google Shape;93;p14"/>
          <p:cNvSpPr txBox="1"/>
          <p:nvPr>
            <p:ph idx="1" type="body"/>
          </p:nvPr>
        </p:nvSpPr>
        <p:spPr>
          <a:xfrm>
            <a:off x="727650" y="1489175"/>
            <a:ext cx="7688700" cy="3390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Health Conditions</a:t>
            </a:r>
            <a:endParaRPr/>
          </a:p>
          <a:p>
            <a:pPr indent="-301466" lvl="0" marL="457200" rtl="0" algn="l">
              <a:spcBef>
                <a:spcPts val="120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High blood pressure and high cholesterol which are risk factors for heart disease.</a:t>
            </a:r>
            <a:endParaRPr sz="1350">
              <a:solidFill>
                <a:srgbClr val="000000"/>
              </a:solidFill>
              <a:highlight>
                <a:srgbClr val="FFFFFF"/>
              </a:highlight>
              <a:latin typeface="Nunito"/>
              <a:ea typeface="Nunito"/>
              <a:cs typeface="Nunito"/>
              <a:sym typeface="Nunito"/>
            </a:endParaRPr>
          </a:p>
          <a:p>
            <a:pPr indent="-301466" lvl="0" marL="457200" rtl="0" algn="l">
              <a:spcBef>
                <a:spcPts val="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Type 2 diabetes.</a:t>
            </a:r>
            <a:endParaRPr sz="1350">
              <a:solidFill>
                <a:srgbClr val="000000"/>
              </a:solidFill>
              <a:highlight>
                <a:srgbClr val="FFFFFF"/>
              </a:highlight>
              <a:latin typeface="Nunito"/>
              <a:ea typeface="Nunito"/>
              <a:cs typeface="Nunito"/>
              <a:sym typeface="Nunito"/>
            </a:endParaRPr>
          </a:p>
          <a:p>
            <a:pPr indent="-301466" lvl="0" marL="457200" rtl="0" algn="l">
              <a:spcBef>
                <a:spcPts val="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Breathing problems, such as asthma and sleep apnea.</a:t>
            </a:r>
            <a:endParaRPr sz="1350">
              <a:solidFill>
                <a:srgbClr val="000000"/>
              </a:solidFill>
              <a:highlight>
                <a:srgbClr val="FFFFFF"/>
              </a:highlight>
              <a:latin typeface="Nunito"/>
              <a:ea typeface="Nunito"/>
              <a:cs typeface="Nunito"/>
              <a:sym typeface="Nunito"/>
            </a:endParaRPr>
          </a:p>
          <a:p>
            <a:pPr indent="-301466" lvl="0" marL="457200" rtl="0" algn="l">
              <a:spcBef>
                <a:spcPts val="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Joint problems such as osteoarthritis and musculoskeletal discomfort.</a:t>
            </a:r>
            <a:endParaRPr sz="1350">
              <a:solidFill>
                <a:srgbClr val="000000"/>
              </a:solidFill>
              <a:highlight>
                <a:srgbClr val="FFFFFF"/>
              </a:highlight>
              <a:latin typeface="Nunito"/>
              <a:ea typeface="Nunito"/>
              <a:cs typeface="Nunito"/>
              <a:sym typeface="Nunito"/>
            </a:endParaRPr>
          </a:p>
          <a:p>
            <a:pPr indent="-301466" lvl="0" marL="457200" rtl="0" algn="l">
              <a:spcBef>
                <a:spcPts val="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Gallbladder disease.</a:t>
            </a:r>
            <a:endParaRPr sz="1350">
              <a:solidFill>
                <a:srgbClr val="000000"/>
              </a:solidFill>
              <a:highlight>
                <a:srgbClr val="FFFFFF"/>
              </a:highlight>
              <a:latin typeface="Nunito"/>
              <a:ea typeface="Nunito"/>
              <a:cs typeface="Nunito"/>
              <a:sym typeface="Nunito"/>
            </a:endParaRPr>
          </a:p>
          <a:p>
            <a:pPr indent="-301466" lvl="0" marL="457200" rtl="0" algn="l">
              <a:spcBef>
                <a:spcPts val="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Psychological problems such as anxiety and depression.</a:t>
            </a:r>
            <a:endParaRPr sz="1350">
              <a:solidFill>
                <a:srgbClr val="000000"/>
              </a:solidFill>
              <a:highlight>
                <a:srgbClr val="FFFFFF"/>
              </a:highlight>
              <a:latin typeface="Nunito"/>
              <a:ea typeface="Nunito"/>
              <a:cs typeface="Nunito"/>
              <a:sym typeface="Nunito"/>
            </a:endParaRPr>
          </a:p>
          <a:p>
            <a:pPr indent="-301466" lvl="0" marL="457200" rtl="0" algn="l">
              <a:spcBef>
                <a:spcPts val="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Low self-esteem and lower self-reported quality of life.</a:t>
            </a:r>
            <a:endParaRPr sz="1350">
              <a:solidFill>
                <a:srgbClr val="000000"/>
              </a:solidFill>
              <a:highlight>
                <a:srgbClr val="FFFFFF"/>
              </a:highlight>
              <a:latin typeface="Nunito"/>
              <a:ea typeface="Nunito"/>
              <a:cs typeface="Nunito"/>
              <a:sym typeface="Nunito"/>
            </a:endParaRPr>
          </a:p>
          <a:p>
            <a:pPr indent="-301466" lvl="0" marL="457200" rtl="0" algn="l">
              <a:spcBef>
                <a:spcPts val="0"/>
              </a:spcBef>
              <a:spcAft>
                <a:spcPts val="0"/>
              </a:spcAft>
              <a:buClr>
                <a:srgbClr val="000000"/>
              </a:buClr>
              <a:buSzPct val="100000"/>
              <a:buFont typeface="Nunito"/>
              <a:buChar char="●"/>
            </a:pPr>
            <a:r>
              <a:rPr lang="en" sz="1350">
                <a:solidFill>
                  <a:srgbClr val="000000"/>
                </a:solidFill>
                <a:highlight>
                  <a:srgbClr val="FFFFFF"/>
                </a:highlight>
                <a:latin typeface="Nunito"/>
                <a:ea typeface="Nunito"/>
                <a:cs typeface="Nunito"/>
                <a:sym typeface="Nunito"/>
              </a:rPr>
              <a:t>Social problems such as bullying and stigma.</a:t>
            </a:r>
            <a:endParaRPr sz="1350">
              <a:solidFill>
                <a:srgbClr val="000000"/>
              </a:solidFill>
              <a:highlight>
                <a:srgbClr val="FFFFFF"/>
              </a:highlight>
              <a:latin typeface="Nunito"/>
              <a:ea typeface="Nunito"/>
              <a:cs typeface="Nunito"/>
              <a:sym typeface="Nunito"/>
            </a:endParaRPr>
          </a:p>
          <a:p>
            <a:pPr indent="0" lvl="0" marL="0" rtl="0" algn="l">
              <a:spcBef>
                <a:spcPts val="1200"/>
              </a:spcBef>
              <a:spcAft>
                <a:spcPts val="0"/>
              </a:spcAft>
              <a:buNone/>
            </a:pPr>
            <a:r>
              <a:rPr lang="en"/>
              <a:t>Economic Impact</a:t>
            </a:r>
            <a:endParaRPr/>
          </a:p>
          <a:p>
            <a:pPr indent="-301466" lvl="0" marL="457200" rtl="0" algn="l">
              <a:spcBef>
                <a:spcPts val="1200"/>
              </a:spcBef>
              <a:spcAft>
                <a:spcPts val="0"/>
              </a:spcAft>
              <a:buClr>
                <a:srgbClr val="000000"/>
              </a:buClr>
              <a:buSzPct val="100000"/>
              <a:buFont typeface="Nunito"/>
              <a:buChar char="●"/>
            </a:pPr>
            <a:r>
              <a:rPr lang="en" sz="1350">
                <a:solidFill>
                  <a:srgbClr val="000000"/>
                </a:solidFill>
                <a:latin typeface="Nunito"/>
                <a:ea typeface="Nunito"/>
                <a:cs typeface="Nunito"/>
                <a:sym typeface="Nunito"/>
              </a:rPr>
              <a:t>Obesity costs the U.S. over $170 billion annually in medical expenses and an additional $3–6 billion in lost work productivity</a:t>
            </a:r>
            <a:endParaRPr sz="1350">
              <a:latin typeface="Nunito"/>
              <a:ea typeface="Nunito"/>
              <a:cs typeface="Nunito"/>
              <a:sym typeface="Nunito"/>
            </a:endParaRPr>
          </a:p>
          <a:p>
            <a:pPr indent="0" lvl="0" marL="0" rtl="0" algn="l">
              <a:spcBef>
                <a:spcPts val="1200"/>
              </a:spcBef>
              <a:spcAft>
                <a:spcPts val="0"/>
              </a:spcAft>
              <a:buNone/>
            </a:pPr>
            <a:r>
              <a:rPr lang="en"/>
              <a:t>Military Readiness</a:t>
            </a:r>
            <a:endParaRPr/>
          </a:p>
          <a:p>
            <a:pPr indent="-301466" lvl="0" marL="457200" rtl="0" algn="l">
              <a:spcBef>
                <a:spcPts val="1200"/>
              </a:spcBef>
              <a:spcAft>
                <a:spcPts val="0"/>
              </a:spcAft>
              <a:buSzPct val="100000"/>
              <a:buFont typeface="Nunito"/>
              <a:buChar char="●"/>
            </a:pPr>
            <a:r>
              <a:rPr lang="en" sz="1350">
                <a:solidFill>
                  <a:srgbClr val="000000"/>
                </a:solidFill>
                <a:highlight>
                  <a:srgbClr val="FFFFFF"/>
                </a:highlight>
                <a:latin typeface="Nunito"/>
                <a:ea typeface="Nunito"/>
                <a:cs typeface="Nunito"/>
                <a:sym typeface="Nunito"/>
              </a:rPr>
              <a:t>Just over 1 in 3 young adults aged 17-24 is too heavy to serve in the </a:t>
            </a:r>
            <a:r>
              <a:rPr lang="en" sz="1350" u="sng">
                <a:solidFill>
                  <a:srgbClr val="075290"/>
                </a:solidFill>
                <a:highlight>
                  <a:srgbClr val="FFFFFF"/>
                </a:highlight>
                <a:latin typeface="Nunito"/>
                <a:ea typeface="Nunito"/>
                <a:cs typeface="Nunito"/>
                <a:sym typeface="Nunito"/>
                <a:hlinkClick r:id="rId3">
                  <a:extLst>
                    <a:ext uri="{A12FA001-AC4F-418D-AE19-62706E023703}">
                      <ahyp:hlinkClr val="tx"/>
                    </a:ext>
                  </a:extLst>
                </a:hlinkClick>
              </a:rPr>
              <a:t>US military</a:t>
            </a:r>
            <a:endParaRPr/>
          </a:p>
        </p:txBody>
      </p:sp>
      <p:sp>
        <p:nvSpPr>
          <p:cNvPr id="94" name="Google Shape;94;p14"/>
          <p:cNvSpPr txBox="1"/>
          <p:nvPr/>
        </p:nvSpPr>
        <p:spPr>
          <a:xfrm>
            <a:off x="5460850" y="4760450"/>
            <a:ext cx="3567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accent1"/>
                </a:solidFill>
                <a:latin typeface="Lato"/>
                <a:ea typeface="Lato"/>
                <a:cs typeface="Lato"/>
                <a:sym typeface="Lato"/>
              </a:rPr>
              <a:t>Ref : https://www.cdc.gov/obesity/basics/consequences.html</a:t>
            </a:r>
            <a:endParaRPr sz="1000">
              <a:solidFill>
                <a:schemeClr val="accen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15"/>
          <p:cNvPicPr preferRelativeResize="0"/>
          <p:nvPr/>
        </p:nvPicPr>
        <p:blipFill>
          <a:blip r:embed="rId3">
            <a:alphaModFix/>
          </a:blip>
          <a:stretch>
            <a:fillRect/>
          </a:stretch>
        </p:blipFill>
        <p:spPr>
          <a:xfrm>
            <a:off x="1055381" y="0"/>
            <a:ext cx="7033237" cy="5143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7" name="Google Shape;107;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16"/>
          <p:cNvPicPr preferRelativeResize="0"/>
          <p:nvPr/>
        </p:nvPicPr>
        <p:blipFill>
          <a:blip r:embed="rId3">
            <a:alphaModFix/>
          </a:blip>
          <a:stretch>
            <a:fillRect/>
          </a:stretch>
        </p:blipFill>
        <p:spPr>
          <a:xfrm>
            <a:off x="0" y="250031"/>
            <a:ext cx="9144003" cy="464343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307000" y="93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Problem &amp; Project Goal</a:t>
            </a:r>
            <a:endParaRPr/>
          </a:p>
        </p:txBody>
      </p:sp>
      <p:sp>
        <p:nvSpPr>
          <p:cNvPr id="114" name="Google Shape;114;p17"/>
          <p:cNvSpPr txBox="1"/>
          <p:nvPr>
            <p:ph idx="1" type="body"/>
          </p:nvPr>
        </p:nvSpPr>
        <p:spPr>
          <a:xfrm>
            <a:off x="602025" y="834375"/>
            <a:ext cx="8227500" cy="4150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lang="en" sz="1022">
                <a:solidFill>
                  <a:srgbClr val="000000"/>
                </a:solidFill>
                <a:latin typeface="Arial"/>
                <a:ea typeface="Arial"/>
                <a:cs typeface="Arial"/>
                <a:sym typeface="Arial"/>
              </a:rPr>
              <a:t>Public health agencies struggle to </a:t>
            </a:r>
            <a:r>
              <a:rPr b="1" lang="en" sz="1100">
                <a:solidFill>
                  <a:srgbClr val="000000"/>
                </a:solidFill>
                <a:latin typeface="Arial"/>
                <a:ea typeface="Arial"/>
                <a:cs typeface="Arial"/>
                <a:sym typeface="Arial"/>
              </a:rPr>
              <a:t>identify which counties should be prioritized for obesity prevention programs</a:t>
            </a:r>
            <a:br>
              <a:rPr b="1" lang="en" sz="1022">
                <a:solidFill>
                  <a:srgbClr val="000000"/>
                </a:solidFill>
                <a:latin typeface="Arial"/>
                <a:ea typeface="Arial"/>
                <a:cs typeface="Arial"/>
                <a:sym typeface="Arial"/>
              </a:rPr>
            </a:br>
            <a:endParaRPr b="1" sz="1022">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b="1" lang="en" sz="1022">
                <a:solidFill>
                  <a:srgbClr val="000000"/>
                </a:solidFill>
                <a:latin typeface="Arial"/>
                <a:ea typeface="Arial"/>
                <a:cs typeface="Arial"/>
                <a:sym typeface="Arial"/>
              </a:rPr>
              <a:t>Obesity is driven by:</a:t>
            </a:r>
            <a:br>
              <a:rPr b="1" lang="en" sz="1022">
                <a:solidFill>
                  <a:srgbClr val="000000"/>
                </a:solidFill>
                <a:latin typeface="Arial"/>
                <a:ea typeface="Arial"/>
                <a:cs typeface="Arial"/>
                <a:sym typeface="Arial"/>
              </a:rPr>
            </a:br>
            <a:endParaRPr b="1" sz="1022">
              <a:solidFill>
                <a:srgbClr val="000000"/>
              </a:solidFill>
              <a:latin typeface="Arial"/>
              <a:ea typeface="Arial"/>
              <a:cs typeface="Arial"/>
              <a:sym typeface="Arial"/>
            </a:endParaRPr>
          </a:p>
          <a:p>
            <a:pPr indent="-293528" lvl="0" marL="457200" rtl="0" algn="l">
              <a:lnSpc>
                <a:spcPct val="95000"/>
              </a:lnSpc>
              <a:spcBef>
                <a:spcPts val="1200"/>
              </a:spcBef>
              <a:spcAft>
                <a:spcPts val="0"/>
              </a:spcAft>
              <a:buClr>
                <a:srgbClr val="000000"/>
              </a:buClr>
              <a:buSzPts val="1023"/>
              <a:buFont typeface="Arial"/>
              <a:buChar char="●"/>
            </a:pPr>
            <a:r>
              <a:rPr b="1" lang="en" sz="1022">
                <a:solidFill>
                  <a:srgbClr val="000000"/>
                </a:solidFill>
                <a:latin typeface="Arial"/>
                <a:ea typeface="Arial"/>
                <a:cs typeface="Arial"/>
                <a:sym typeface="Arial"/>
              </a:rPr>
              <a:t>Economic stress</a:t>
            </a:r>
            <a:br>
              <a:rPr b="1" lang="en" sz="1022">
                <a:solidFill>
                  <a:srgbClr val="000000"/>
                </a:solidFill>
                <a:latin typeface="Arial"/>
                <a:ea typeface="Arial"/>
                <a:cs typeface="Arial"/>
                <a:sym typeface="Arial"/>
              </a:rPr>
            </a:br>
            <a:endParaRPr b="1" sz="1022">
              <a:solidFill>
                <a:srgbClr val="000000"/>
              </a:solidFill>
              <a:latin typeface="Arial"/>
              <a:ea typeface="Arial"/>
              <a:cs typeface="Arial"/>
              <a:sym typeface="Arial"/>
            </a:endParaRPr>
          </a:p>
          <a:p>
            <a:pPr indent="-293528" lvl="0" marL="457200" rtl="0" algn="l">
              <a:lnSpc>
                <a:spcPct val="95000"/>
              </a:lnSpc>
              <a:spcBef>
                <a:spcPts val="0"/>
              </a:spcBef>
              <a:spcAft>
                <a:spcPts val="0"/>
              </a:spcAft>
              <a:buClr>
                <a:srgbClr val="000000"/>
              </a:buClr>
              <a:buSzPts val="1023"/>
              <a:buFont typeface="Arial"/>
              <a:buChar char="●"/>
            </a:pPr>
            <a:r>
              <a:rPr b="1" lang="en" sz="1022">
                <a:solidFill>
                  <a:srgbClr val="000000"/>
                </a:solidFill>
                <a:latin typeface="Arial"/>
                <a:ea typeface="Arial"/>
                <a:cs typeface="Arial"/>
                <a:sym typeface="Arial"/>
              </a:rPr>
              <a:t>Physical inactivity</a:t>
            </a:r>
            <a:br>
              <a:rPr b="1" lang="en" sz="1022">
                <a:solidFill>
                  <a:srgbClr val="000000"/>
                </a:solidFill>
                <a:latin typeface="Arial"/>
                <a:ea typeface="Arial"/>
                <a:cs typeface="Arial"/>
                <a:sym typeface="Arial"/>
              </a:rPr>
            </a:br>
            <a:endParaRPr b="1" sz="1022">
              <a:solidFill>
                <a:srgbClr val="000000"/>
              </a:solidFill>
              <a:latin typeface="Arial"/>
              <a:ea typeface="Arial"/>
              <a:cs typeface="Arial"/>
              <a:sym typeface="Arial"/>
            </a:endParaRPr>
          </a:p>
          <a:p>
            <a:pPr indent="-293528" lvl="0" marL="457200" rtl="0" algn="l">
              <a:lnSpc>
                <a:spcPct val="95000"/>
              </a:lnSpc>
              <a:spcBef>
                <a:spcPts val="0"/>
              </a:spcBef>
              <a:spcAft>
                <a:spcPts val="0"/>
              </a:spcAft>
              <a:buClr>
                <a:srgbClr val="000000"/>
              </a:buClr>
              <a:buSzPts val="1023"/>
              <a:buFont typeface="Arial"/>
              <a:buChar char="●"/>
            </a:pPr>
            <a:r>
              <a:rPr b="1" lang="en" sz="1022">
                <a:solidFill>
                  <a:srgbClr val="000000"/>
                </a:solidFill>
                <a:latin typeface="Arial"/>
                <a:ea typeface="Arial"/>
                <a:cs typeface="Arial"/>
                <a:sym typeface="Arial"/>
              </a:rPr>
              <a:t>Low food access</a:t>
            </a:r>
            <a:br>
              <a:rPr b="1" lang="en" sz="1022">
                <a:solidFill>
                  <a:srgbClr val="000000"/>
                </a:solidFill>
                <a:latin typeface="Arial"/>
                <a:ea typeface="Arial"/>
                <a:cs typeface="Arial"/>
                <a:sym typeface="Arial"/>
              </a:rPr>
            </a:br>
            <a:endParaRPr b="1" sz="1022">
              <a:solidFill>
                <a:srgbClr val="000000"/>
              </a:solidFill>
              <a:latin typeface="Arial"/>
              <a:ea typeface="Arial"/>
              <a:cs typeface="Arial"/>
              <a:sym typeface="Arial"/>
            </a:endParaRPr>
          </a:p>
          <a:p>
            <a:pPr indent="-293528" lvl="0" marL="457200" rtl="0" algn="l">
              <a:lnSpc>
                <a:spcPct val="95000"/>
              </a:lnSpc>
              <a:spcBef>
                <a:spcPts val="0"/>
              </a:spcBef>
              <a:spcAft>
                <a:spcPts val="0"/>
              </a:spcAft>
              <a:buClr>
                <a:srgbClr val="000000"/>
              </a:buClr>
              <a:buSzPts val="1023"/>
              <a:buFont typeface="Arial"/>
              <a:buChar char="●"/>
            </a:pPr>
            <a:r>
              <a:rPr b="1" lang="en" sz="1022">
                <a:solidFill>
                  <a:srgbClr val="000000"/>
                </a:solidFill>
                <a:latin typeface="Arial"/>
                <a:ea typeface="Arial"/>
                <a:cs typeface="Arial"/>
                <a:sym typeface="Arial"/>
              </a:rPr>
              <a:t>Demographic inequities</a:t>
            </a:r>
            <a:endParaRPr sz="1022">
              <a:solidFill>
                <a:srgbClr val="000000"/>
              </a:solidFill>
              <a:latin typeface="Arial"/>
              <a:ea typeface="Arial"/>
              <a:cs typeface="Arial"/>
              <a:sym typeface="Arial"/>
            </a:endParaRPr>
          </a:p>
          <a:p>
            <a:pPr indent="0" lvl="0" marL="457200" rtl="0" algn="l">
              <a:lnSpc>
                <a:spcPct val="95000"/>
              </a:lnSpc>
              <a:spcBef>
                <a:spcPts val="1200"/>
              </a:spcBef>
              <a:spcAft>
                <a:spcPts val="0"/>
              </a:spcAft>
              <a:buNone/>
            </a:pPr>
            <a:r>
              <a:t/>
            </a:r>
            <a:endParaRPr sz="1022">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lang="en" sz="1022">
                <a:solidFill>
                  <a:srgbClr val="000000"/>
                </a:solidFill>
                <a:latin typeface="Arial"/>
                <a:ea typeface="Arial"/>
                <a:cs typeface="Arial"/>
                <a:sym typeface="Arial"/>
              </a:rPr>
              <a:t>Current approaches rely on </a:t>
            </a:r>
            <a:r>
              <a:rPr b="1" lang="en" sz="1022">
                <a:solidFill>
                  <a:srgbClr val="000000"/>
                </a:solidFill>
                <a:latin typeface="Arial"/>
                <a:ea typeface="Arial"/>
                <a:cs typeface="Arial"/>
                <a:sym typeface="Arial"/>
              </a:rPr>
              <a:t>single-metric thresholds</a:t>
            </a:r>
            <a:r>
              <a:rPr lang="en" sz="1022">
                <a:solidFill>
                  <a:srgbClr val="000000"/>
                </a:solidFill>
                <a:latin typeface="Arial"/>
                <a:ea typeface="Arial"/>
                <a:cs typeface="Arial"/>
                <a:sym typeface="Arial"/>
              </a:rPr>
              <a:t> or statewide averages</a:t>
            </a:r>
            <a:br>
              <a:rPr lang="en" sz="1022">
                <a:solidFill>
                  <a:srgbClr val="000000"/>
                </a:solidFill>
                <a:latin typeface="Arial"/>
                <a:ea typeface="Arial"/>
                <a:cs typeface="Arial"/>
                <a:sym typeface="Arial"/>
              </a:rPr>
            </a:br>
            <a:endParaRPr sz="1022">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lang="en" sz="1022">
                <a:solidFill>
                  <a:srgbClr val="000000"/>
                </a:solidFill>
                <a:latin typeface="Arial"/>
                <a:ea typeface="Arial"/>
                <a:cs typeface="Arial"/>
                <a:sym typeface="Arial"/>
              </a:rPr>
              <a:t>Our goal: </a:t>
            </a:r>
            <a:r>
              <a:rPr b="1" lang="en" sz="1022">
                <a:solidFill>
                  <a:srgbClr val="000000"/>
                </a:solidFill>
                <a:latin typeface="Arial"/>
                <a:ea typeface="Arial"/>
                <a:cs typeface="Arial"/>
                <a:sym typeface="Arial"/>
              </a:rPr>
              <a:t>To</a:t>
            </a:r>
            <a:r>
              <a:rPr lang="en" sz="1022">
                <a:solidFill>
                  <a:srgbClr val="000000"/>
                </a:solidFill>
                <a:latin typeface="Arial"/>
                <a:ea typeface="Arial"/>
                <a:cs typeface="Arial"/>
                <a:sym typeface="Arial"/>
              </a:rPr>
              <a:t> </a:t>
            </a:r>
            <a:r>
              <a:rPr b="1" lang="en" sz="1022">
                <a:solidFill>
                  <a:srgbClr val="000000"/>
                </a:solidFill>
                <a:latin typeface="Arial"/>
                <a:ea typeface="Arial"/>
                <a:cs typeface="Arial"/>
                <a:sym typeface="Arial"/>
              </a:rPr>
              <a:t>identify data-driven obesity risk hotspots using multi-factor clustering as obesity is not evenly distributed across the U.S.</a:t>
            </a:r>
            <a:endParaRPr b="1" sz="1022">
              <a:solidFill>
                <a:srgbClr val="000000"/>
              </a:solidFill>
              <a:latin typeface="Arial"/>
              <a:ea typeface="Arial"/>
              <a:cs typeface="Arial"/>
              <a:sym typeface="Arial"/>
            </a:endParaRPr>
          </a:p>
          <a:p>
            <a:pPr indent="0" lvl="0" marL="0" rtl="0" algn="l">
              <a:lnSpc>
                <a:spcPct val="95000"/>
              </a:lnSpc>
              <a:spcBef>
                <a:spcPts val="1200"/>
              </a:spcBef>
              <a:spcAft>
                <a:spcPts val="0"/>
              </a:spcAft>
              <a:buSzPts val="523"/>
              <a:buNone/>
            </a:pPr>
            <a:r>
              <a:rPr b="1" lang="en" sz="1022">
                <a:solidFill>
                  <a:srgbClr val="000000"/>
                </a:solidFill>
                <a:latin typeface="Arial"/>
                <a:ea typeface="Arial"/>
                <a:cs typeface="Arial"/>
                <a:sym typeface="Arial"/>
              </a:rPr>
              <a:t>Also to predict future obesity rates, so that public health agencies can take actions for improving infrastructure and resources.</a:t>
            </a:r>
            <a:endParaRPr b="1" sz="1022">
              <a:solidFill>
                <a:srgbClr val="000000"/>
              </a:solidFill>
              <a:latin typeface="Arial"/>
              <a:ea typeface="Arial"/>
              <a:cs typeface="Arial"/>
              <a:sym typeface="Arial"/>
            </a:endParaRPr>
          </a:p>
          <a:p>
            <a:pPr indent="0" lvl="0" marL="457200" rtl="0" algn="l">
              <a:lnSpc>
                <a:spcPct val="95000"/>
              </a:lnSpc>
              <a:spcBef>
                <a:spcPts val="1200"/>
              </a:spcBef>
              <a:spcAft>
                <a:spcPts val="0"/>
              </a:spcAft>
              <a:buNone/>
            </a:pPr>
            <a:r>
              <a:t/>
            </a:r>
            <a:endParaRPr b="1" sz="1022">
              <a:solidFill>
                <a:srgbClr val="000000"/>
              </a:solidFill>
              <a:latin typeface="Arial"/>
              <a:ea typeface="Arial"/>
              <a:cs typeface="Arial"/>
              <a:sym typeface="Arial"/>
            </a:endParaRPr>
          </a:p>
          <a:p>
            <a:pPr indent="0" lvl="0" marL="0" rtl="0" algn="l">
              <a:lnSpc>
                <a:spcPct val="95000"/>
              </a:lnSpc>
              <a:spcBef>
                <a:spcPts val="1200"/>
              </a:spcBef>
              <a:spcAft>
                <a:spcPts val="1200"/>
              </a:spcAft>
              <a:buSzPts val="523"/>
              <a:buNone/>
            </a:pPr>
            <a:r>
              <a:t/>
            </a:r>
            <a:endParaRPr sz="1117"/>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Public Health Agencies Problems</a:t>
            </a:r>
            <a:endParaRPr/>
          </a:p>
        </p:txBody>
      </p:sp>
      <p:sp>
        <p:nvSpPr>
          <p:cNvPr id="120" name="Google Shape;120;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Agencies don’t know where to intervene first (Resource Allocation Problem)</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One-Size-Fits-All Policies Fail Across Diverse Populations as t</a:t>
            </a:r>
            <a:r>
              <a:rPr lang="en" sz="1400">
                <a:solidFill>
                  <a:srgbClr val="000000"/>
                </a:solidFill>
                <a:latin typeface="Arial"/>
                <a:ea typeface="Arial"/>
                <a:cs typeface="Arial"/>
                <a:sym typeface="Arial"/>
              </a:rPr>
              <a:t>hey don’t know which Factors Matter Most in Each County (Equity &amp; Disparity Problem)</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State-level averages hide true county-level risk</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Funding must be justified with strong quantitative evidence (Political &amp; Budget Pressure)</a:t>
            </a:r>
            <a:endParaRPr sz="14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57390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About Dataset</a:t>
            </a:r>
            <a:endParaRPr/>
          </a:p>
        </p:txBody>
      </p:sp>
      <p:graphicFrame>
        <p:nvGraphicFramePr>
          <p:cNvPr id="126" name="Google Shape;126;p19"/>
          <p:cNvGraphicFramePr/>
          <p:nvPr/>
        </p:nvGraphicFramePr>
        <p:xfrm>
          <a:off x="545963" y="709125"/>
          <a:ext cx="3000000" cy="3000000"/>
        </p:xfrm>
        <a:graphic>
          <a:graphicData uri="http://schemas.openxmlformats.org/drawingml/2006/table">
            <a:tbl>
              <a:tblPr>
                <a:noFill/>
                <a:tableStyleId>{98BE9261-B838-4677-923B-441208D0DDF6}</a:tableStyleId>
              </a:tblPr>
              <a:tblGrid>
                <a:gridCol w="2684025"/>
                <a:gridCol w="2684025"/>
                <a:gridCol w="2684025"/>
              </a:tblGrid>
              <a:tr h="523250">
                <a:tc>
                  <a:txBody>
                    <a:bodyPr/>
                    <a:lstStyle/>
                    <a:p>
                      <a:pPr indent="0" lvl="0" marL="0" rtl="0" algn="l">
                        <a:spcBef>
                          <a:spcPts val="0"/>
                        </a:spcBef>
                        <a:spcAft>
                          <a:spcPts val="0"/>
                        </a:spcAft>
                        <a:buNone/>
                      </a:pPr>
                      <a:r>
                        <a:rPr lang="en" sz="1000"/>
                        <a:t>Category</a:t>
                      </a:r>
                      <a:endParaRPr sz="1000"/>
                    </a:p>
                  </a:txBody>
                  <a:tcPr marT="91425" marB="91425" marR="91425" marL="91425">
                    <a:solidFill>
                      <a:srgbClr val="B6D7A8"/>
                    </a:solidFill>
                  </a:tcPr>
                </a:tc>
                <a:tc>
                  <a:txBody>
                    <a:bodyPr/>
                    <a:lstStyle/>
                    <a:p>
                      <a:pPr indent="0" lvl="0" marL="0" rtl="0" algn="l">
                        <a:spcBef>
                          <a:spcPts val="0"/>
                        </a:spcBef>
                        <a:spcAft>
                          <a:spcPts val="0"/>
                        </a:spcAft>
                        <a:buNone/>
                      </a:pPr>
                      <a:r>
                        <a:rPr lang="en" sz="1000"/>
                        <a:t>Example Features (All County level dataset)</a:t>
                      </a:r>
                      <a:endParaRPr sz="1000"/>
                    </a:p>
                  </a:txBody>
                  <a:tcPr marT="91425" marB="91425" marR="91425" marL="91425">
                    <a:solidFill>
                      <a:srgbClr val="B6D7A8"/>
                    </a:solidFill>
                  </a:tcPr>
                </a:tc>
                <a:tc>
                  <a:txBody>
                    <a:bodyPr/>
                    <a:lstStyle/>
                    <a:p>
                      <a:pPr indent="0" lvl="0" marL="0" rtl="0" algn="l">
                        <a:spcBef>
                          <a:spcPts val="0"/>
                        </a:spcBef>
                        <a:spcAft>
                          <a:spcPts val="0"/>
                        </a:spcAft>
                        <a:buNone/>
                      </a:pPr>
                      <a:r>
                        <a:rPr lang="en" sz="1000"/>
                        <a:t>Source</a:t>
                      </a:r>
                      <a:endParaRPr sz="1000"/>
                    </a:p>
                  </a:txBody>
                  <a:tcPr marT="91425" marB="91425" marR="91425" marL="91425">
                    <a:solidFill>
                      <a:srgbClr val="B6D7A8"/>
                    </a:solidFill>
                  </a:tcPr>
                </a:tc>
              </a:tr>
              <a:tr h="523250">
                <a:tc>
                  <a:txBody>
                    <a:bodyPr/>
                    <a:lstStyle/>
                    <a:p>
                      <a:pPr indent="0" lvl="0" marL="0" rtl="0" algn="l">
                        <a:spcBef>
                          <a:spcPts val="0"/>
                        </a:spcBef>
                        <a:spcAft>
                          <a:spcPts val="0"/>
                        </a:spcAft>
                        <a:buNone/>
                      </a:pPr>
                      <a:r>
                        <a:rPr lang="en" sz="1000"/>
                        <a:t>Health</a:t>
                      </a:r>
                      <a:endParaRPr sz="1000"/>
                    </a:p>
                  </a:txBody>
                  <a:tcPr marT="91425" marB="91425" marR="91425" marL="91425"/>
                </a:tc>
                <a:tc>
                  <a:txBody>
                    <a:bodyPr/>
                    <a:lstStyle/>
                    <a:p>
                      <a:pPr indent="0" lvl="0" marL="0" rtl="0" algn="l">
                        <a:spcBef>
                          <a:spcPts val="0"/>
                        </a:spcBef>
                        <a:spcAft>
                          <a:spcPts val="0"/>
                        </a:spcAft>
                        <a:buNone/>
                      </a:pPr>
                      <a:r>
                        <a:rPr lang="en" sz="1000"/>
                        <a:t>Obesity %, Inactivity %, Food Access %</a:t>
                      </a:r>
                      <a:endParaRPr sz="1000"/>
                    </a:p>
                  </a:txBody>
                  <a:tcPr marT="91425" marB="91425" marR="91425" marL="91425"/>
                </a:tc>
                <a:tc>
                  <a:txBody>
                    <a:bodyPr/>
                    <a:lstStyle/>
                    <a:p>
                      <a:pPr indent="0" lvl="0" marL="0" rtl="0" algn="l">
                        <a:spcBef>
                          <a:spcPts val="0"/>
                        </a:spcBef>
                        <a:spcAft>
                          <a:spcPts val="0"/>
                        </a:spcAft>
                        <a:buNone/>
                      </a:pPr>
                      <a:r>
                        <a:rPr lang="en" sz="1000" u="sng">
                          <a:solidFill>
                            <a:schemeClr val="hlink"/>
                          </a:solidFill>
                          <a:hlinkClick r:id="rId3"/>
                        </a:rPr>
                        <a:t>www.ruralhealthinfo.org</a:t>
                      </a:r>
                      <a:endParaRPr sz="1000"/>
                    </a:p>
                    <a:p>
                      <a:pPr indent="0" lvl="0" marL="0" rtl="0" algn="l">
                        <a:spcBef>
                          <a:spcPts val="0"/>
                        </a:spcBef>
                        <a:spcAft>
                          <a:spcPts val="0"/>
                        </a:spcAft>
                        <a:buNone/>
                      </a:pPr>
                      <a:r>
                        <a:rPr lang="en" sz="1000"/>
                        <a:t>(2010-2023)</a:t>
                      </a:r>
                      <a:endParaRPr sz="1000"/>
                    </a:p>
                  </a:txBody>
                  <a:tcPr marT="91425" marB="91425" marR="91425" marL="91425"/>
                </a:tc>
              </a:tr>
              <a:tr h="805050">
                <a:tc>
                  <a:txBody>
                    <a:bodyPr/>
                    <a:lstStyle/>
                    <a:p>
                      <a:pPr indent="0" lvl="0" marL="0" rtl="0" algn="l">
                        <a:spcBef>
                          <a:spcPts val="0"/>
                        </a:spcBef>
                        <a:spcAft>
                          <a:spcPts val="0"/>
                        </a:spcAft>
                        <a:buNone/>
                      </a:pPr>
                      <a:r>
                        <a:rPr lang="en" sz="1000"/>
                        <a:t>SES</a:t>
                      </a:r>
                      <a:endParaRPr sz="1000"/>
                    </a:p>
                  </a:txBody>
                  <a:tcPr marT="91425" marB="91425" marR="91425" marL="91425"/>
                </a:tc>
                <a:tc>
                  <a:txBody>
                    <a:bodyPr/>
                    <a:lstStyle/>
                    <a:p>
                      <a:pPr indent="0" lvl="0" marL="0" rtl="0" algn="l">
                        <a:spcBef>
                          <a:spcPts val="0"/>
                        </a:spcBef>
                        <a:spcAft>
                          <a:spcPts val="0"/>
                        </a:spcAft>
                        <a:buNone/>
                      </a:pPr>
                      <a:r>
                        <a:rPr lang="en" sz="1000"/>
                        <a:t>Poverty %, Median Income, Unemployment %</a:t>
                      </a:r>
                      <a:endParaRPr sz="1000"/>
                    </a:p>
                  </a:txBody>
                  <a:tcPr marT="91425" marB="91425" marR="91425" marL="91425"/>
                </a:tc>
                <a:tc>
                  <a:txBody>
                    <a:bodyPr/>
                    <a:lstStyle/>
                    <a:p>
                      <a:pPr indent="0" lvl="0" marL="0" rtl="0" algn="l">
                        <a:spcBef>
                          <a:spcPts val="0"/>
                        </a:spcBef>
                        <a:spcAft>
                          <a:spcPts val="0"/>
                        </a:spcAft>
                        <a:buNone/>
                      </a:pPr>
                      <a:r>
                        <a:rPr lang="en" sz="1000" u="sng">
                          <a:solidFill>
                            <a:schemeClr val="hlink"/>
                          </a:solidFill>
                          <a:hlinkClick r:id="rId4"/>
                        </a:rPr>
                        <a:t>www.ruralhealthinfo.org</a:t>
                      </a:r>
                      <a:endParaRPr sz="1000"/>
                    </a:p>
                    <a:p>
                      <a:pPr indent="0" lvl="0" marL="0" rtl="0" algn="l">
                        <a:spcBef>
                          <a:spcPts val="0"/>
                        </a:spcBef>
                        <a:spcAft>
                          <a:spcPts val="0"/>
                        </a:spcAft>
                        <a:buNone/>
                      </a:pPr>
                      <a:r>
                        <a:rPr lang="en" sz="1000"/>
                        <a:t>(2010-2023)</a:t>
                      </a:r>
                      <a:endParaRPr sz="1000"/>
                    </a:p>
                  </a:txBody>
                  <a:tcPr marT="91425" marB="91425" marR="91425" marL="91425"/>
                </a:tc>
              </a:tr>
              <a:tr h="523250">
                <a:tc>
                  <a:txBody>
                    <a:bodyPr/>
                    <a:lstStyle/>
                    <a:p>
                      <a:pPr indent="0" lvl="0" marL="0" rtl="0" algn="l">
                        <a:spcBef>
                          <a:spcPts val="0"/>
                        </a:spcBef>
                        <a:spcAft>
                          <a:spcPts val="0"/>
                        </a:spcAft>
                        <a:buNone/>
                      </a:pPr>
                      <a:r>
                        <a:rPr lang="en" sz="1000"/>
                        <a:t>Demographics</a:t>
                      </a:r>
                      <a:endParaRPr sz="1000"/>
                    </a:p>
                  </a:txBody>
                  <a:tcPr marT="91425" marB="91425" marR="91425" marL="91425"/>
                </a:tc>
                <a:tc>
                  <a:txBody>
                    <a:bodyPr/>
                    <a:lstStyle/>
                    <a:p>
                      <a:pPr indent="0" lvl="0" marL="0" rtl="0" algn="l">
                        <a:spcBef>
                          <a:spcPts val="0"/>
                        </a:spcBef>
                        <a:spcAft>
                          <a:spcPts val="0"/>
                        </a:spcAft>
                        <a:buNone/>
                      </a:pPr>
                      <a:r>
                        <a:rPr lang="en" sz="1000"/>
                        <a:t>% White, % Black, % Hispanic, % Asian, % Native, % Pacific</a:t>
                      </a:r>
                      <a:endParaRPr sz="1000"/>
                    </a:p>
                  </a:txBody>
                  <a:tcPr marT="91425" marB="91425" marR="91425" marL="91425"/>
                </a:tc>
                <a:tc>
                  <a:txBody>
                    <a:bodyPr/>
                    <a:lstStyle/>
                    <a:p>
                      <a:pPr indent="0" lvl="0" marL="0" rtl="0" algn="l">
                        <a:spcBef>
                          <a:spcPts val="0"/>
                        </a:spcBef>
                        <a:spcAft>
                          <a:spcPts val="0"/>
                        </a:spcAft>
                        <a:buNone/>
                      </a:pPr>
                      <a:r>
                        <a:rPr lang="en" sz="1000" u="sng">
                          <a:solidFill>
                            <a:schemeClr val="hlink"/>
                          </a:solidFill>
                          <a:hlinkClick r:id="rId5"/>
                        </a:rPr>
                        <a:t>www.census.gov</a:t>
                      </a:r>
                      <a:endParaRPr sz="1000"/>
                    </a:p>
                    <a:p>
                      <a:pPr indent="0" lvl="0" marL="0" rtl="0" algn="l">
                        <a:spcBef>
                          <a:spcPts val="0"/>
                        </a:spcBef>
                        <a:spcAft>
                          <a:spcPts val="0"/>
                        </a:spcAft>
                        <a:buNone/>
                      </a:pPr>
                      <a:r>
                        <a:rPr lang="en" sz="1000"/>
                        <a:t>(2020)</a:t>
                      </a:r>
                      <a:endParaRPr sz="1000"/>
                    </a:p>
                  </a:txBody>
                  <a:tcPr marT="91425" marB="91425" marR="91425" marL="91425"/>
                </a:tc>
              </a:tr>
              <a:tr h="503175">
                <a:tc>
                  <a:txBody>
                    <a:bodyPr/>
                    <a:lstStyle/>
                    <a:p>
                      <a:pPr indent="0" lvl="0" marL="0" rtl="0" algn="l">
                        <a:spcBef>
                          <a:spcPts val="0"/>
                        </a:spcBef>
                        <a:spcAft>
                          <a:spcPts val="0"/>
                        </a:spcAft>
                        <a:buNone/>
                      </a:pPr>
                      <a:r>
                        <a:rPr lang="en" sz="1000"/>
                        <a:t>Education</a:t>
                      </a:r>
                      <a:endParaRPr sz="1000"/>
                    </a:p>
                  </a:txBody>
                  <a:tcPr marT="91425" marB="91425" marR="91425" marL="91425"/>
                </a:tc>
                <a:tc>
                  <a:txBody>
                    <a:bodyPr/>
                    <a:lstStyle/>
                    <a:p>
                      <a:pPr indent="0" lvl="0" marL="0" rtl="0" algn="l">
                        <a:spcBef>
                          <a:spcPts val="0"/>
                        </a:spcBef>
                        <a:spcAft>
                          <a:spcPts val="0"/>
                        </a:spcAft>
                        <a:buNone/>
                      </a:pPr>
                      <a:r>
                        <a:rPr lang="en" sz="1000"/>
                        <a:t>N</a:t>
                      </a:r>
                      <a:r>
                        <a:rPr lang="en" sz="1000"/>
                        <a:t>ot high school graduates</a:t>
                      </a:r>
                      <a:endParaRPr sz="1000"/>
                    </a:p>
                    <a:p>
                      <a:pPr indent="0" lvl="0" marL="0" rtl="0" algn="l">
                        <a:spcBef>
                          <a:spcPts val="0"/>
                        </a:spcBef>
                        <a:spcAft>
                          <a:spcPts val="0"/>
                        </a:spcAft>
                        <a:buNone/>
                      </a:pPr>
                      <a:r>
                        <a:rPr lang="en" sz="1000"/>
                        <a:t>High school graduates </a:t>
                      </a:r>
                      <a:endParaRPr sz="1000"/>
                    </a:p>
                    <a:p>
                      <a:pPr indent="0" lvl="0" marL="0" rtl="0" algn="l">
                        <a:spcBef>
                          <a:spcPts val="0"/>
                        </a:spcBef>
                        <a:spcAft>
                          <a:spcPts val="0"/>
                        </a:spcAft>
                        <a:buNone/>
                      </a:pPr>
                      <a:r>
                        <a:rPr lang="en" sz="1000"/>
                        <a:t>College or associate degree</a:t>
                      </a:r>
                      <a:endParaRPr sz="1000"/>
                    </a:p>
                    <a:p>
                      <a:pPr indent="0" lvl="0" marL="0" rtl="0" algn="l">
                        <a:spcBef>
                          <a:spcPts val="0"/>
                        </a:spcBef>
                        <a:spcAft>
                          <a:spcPts val="0"/>
                        </a:spcAft>
                        <a:buNone/>
                      </a:pPr>
                      <a:r>
                        <a:rPr lang="en" sz="1000"/>
                        <a:t>Bachelor's degree or higher</a:t>
                      </a:r>
                      <a:endParaRPr sz="1000"/>
                    </a:p>
                  </a:txBody>
                  <a:tcPr marT="91425" marB="91425" marR="91425" marL="91425"/>
                </a:tc>
                <a:tc>
                  <a:txBody>
                    <a:bodyPr/>
                    <a:lstStyle/>
                    <a:p>
                      <a:pPr indent="0" lvl="0" marL="0" rtl="0" algn="l">
                        <a:spcBef>
                          <a:spcPts val="0"/>
                        </a:spcBef>
                        <a:spcAft>
                          <a:spcPts val="0"/>
                        </a:spcAft>
                        <a:buNone/>
                      </a:pPr>
                      <a:r>
                        <a:rPr lang="en" sz="1000" u="sng">
                          <a:solidFill>
                            <a:schemeClr val="hlink"/>
                          </a:solidFill>
                          <a:hlinkClick r:id="rId6"/>
                        </a:rPr>
                        <a:t>www.ers.usda.gov</a:t>
                      </a:r>
                      <a:endParaRPr sz="1000"/>
                    </a:p>
                    <a:p>
                      <a:pPr indent="0" lvl="0" marL="0" rtl="0" algn="l">
                        <a:spcBef>
                          <a:spcPts val="0"/>
                        </a:spcBef>
                        <a:spcAft>
                          <a:spcPts val="0"/>
                        </a:spcAft>
                        <a:buNone/>
                      </a:pPr>
                      <a:r>
                        <a:rPr lang="en" sz="1000"/>
                        <a:t>(2023)</a:t>
                      </a:r>
                      <a:endParaRPr sz="1000"/>
                    </a:p>
                  </a:txBody>
                  <a:tcPr marT="91425" marB="91425" marR="91425" marL="91425"/>
                </a:tc>
              </a:tr>
              <a:tr h="503175">
                <a:tc>
                  <a:txBody>
                    <a:bodyPr/>
                    <a:lstStyle/>
                    <a:p>
                      <a:pPr indent="0" lvl="0" marL="0" rtl="0" algn="l">
                        <a:spcBef>
                          <a:spcPts val="0"/>
                        </a:spcBef>
                        <a:spcAft>
                          <a:spcPts val="0"/>
                        </a:spcAft>
                        <a:buNone/>
                      </a:pPr>
                      <a:r>
                        <a:rPr lang="en" sz="1000"/>
                        <a:t>Urban-Rural</a:t>
                      </a:r>
                      <a:endParaRPr sz="1000"/>
                    </a:p>
                  </a:txBody>
                  <a:tcPr marT="91425" marB="91425" marR="91425" marL="91425"/>
                </a:tc>
                <a:tc>
                  <a:txBody>
                    <a:bodyPr/>
                    <a:lstStyle/>
                    <a:p>
                      <a:pPr indent="0" lvl="0" marL="0" rtl="0" algn="l">
                        <a:spcBef>
                          <a:spcPts val="0"/>
                        </a:spcBef>
                        <a:spcAft>
                          <a:spcPts val="0"/>
                        </a:spcAft>
                        <a:buNone/>
                      </a:pPr>
                      <a:r>
                        <a:rPr lang="en" sz="1000"/>
                        <a:t>Large central metro</a:t>
                      </a:r>
                      <a:endParaRPr sz="1000"/>
                    </a:p>
                    <a:p>
                      <a:pPr indent="0" lvl="0" marL="0" rtl="0" algn="l">
                        <a:spcBef>
                          <a:spcPts val="0"/>
                        </a:spcBef>
                        <a:spcAft>
                          <a:spcPts val="0"/>
                        </a:spcAft>
                        <a:buNone/>
                      </a:pPr>
                      <a:r>
                        <a:rPr lang="en" sz="1000"/>
                        <a:t>Large fringe metro</a:t>
                      </a:r>
                      <a:endParaRPr sz="1000"/>
                    </a:p>
                    <a:p>
                      <a:pPr indent="0" lvl="0" marL="0" rtl="0" algn="l">
                        <a:spcBef>
                          <a:spcPts val="0"/>
                        </a:spcBef>
                        <a:spcAft>
                          <a:spcPts val="0"/>
                        </a:spcAft>
                        <a:buNone/>
                      </a:pPr>
                      <a:r>
                        <a:rPr lang="en" sz="1000"/>
                        <a:t>Medium metro</a:t>
                      </a:r>
                      <a:endParaRPr sz="1000"/>
                    </a:p>
                    <a:p>
                      <a:pPr indent="0" lvl="0" marL="0" rtl="0" algn="l">
                        <a:spcBef>
                          <a:spcPts val="0"/>
                        </a:spcBef>
                        <a:spcAft>
                          <a:spcPts val="0"/>
                        </a:spcAft>
                        <a:buNone/>
                      </a:pPr>
                      <a:r>
                        <a:rPr lang="en" sz="1000"/>
                        <a:t>Small metro</a:t>
                      </a:r>
                      <a:endParaRPr sz="1000"/>
                    </a:p>
                    <a:p>
                      <a:pPr indent="0" lvl="0" marL="0" rtl="0" algn="l">
                        <a:spcBef>
                          <a:spcPts val="0"/>
                        </a:spcBef>
                        <a:spcAft>
                          <a:spcPts val="0"/>
                        </a:spcAft>
                        <a:buNone/>
                      </a:pPr>
                      <a:r>
                        <a:rPr lang="en" sz="1000"/>
                        <a:t>Micropolitan</a:t>
                      </a:r>
                      <a:endParaRPr sz="1000"/>
                    </a:p>
                    <a:p>
                      <a:pPr indent="0" lvl="0" marL="0" rtl="0" algn="l">
                        <a:spcBef>
                          <a:spcPts val="0"/>
                        </a:spcBef>
                        <a:spcAft>
                          <a:spcPts val="0"/>
                        </a:spcAft>
                        <a:buNone/>
                      </a:pPr>
                      <a:r>
                        <a:rPr lang="en" sz="1000"/>
                        <a:t>Noncore</a:t>
                      </a:r>
                      <a:endParaRPr sz="1000"/>
                    </a:p>
                  </a:txBody>
                  <a:tcPr marT="91425" marB="91425" marR="91425" marL="91425"/>
                </a:tc>
                <a:tc>
                  <a:txBody>
                    <a:bodyPr/>
                    <a:lstStyle/>
                    <a:p>
                      <a:pPr indent="0" lvl="0" marL="0" rtl="0" algn="l">
                        <a:spcBef>
                          <a:spcPts val="0"/>
                        </a:spcBef>
                        <a:spcAft>
                          <a:spcPts val="0"/>
                        </a:spcAft>
                        <a:buNone/>
                      </a:pPr>
                      <a:r>
                        <a:rPr lang="en" sz="1000" u="sng">
                          <a:solidFill>
                            <a:schemeClr val="hlink"/>
                          </a:solidFill>
                          <a:hlinkClick r:id="rId7"/>
                        </a:rPr>
                        <a:t>www.cdc.gov</a:t>
                      </a:r>
                      <a:endParaRPr sz="1000"/>
                    </a:p>
                    <a:p>
                      <a:pPr indent="0" lvl="0" marL="0" rtl="0" algn="l">
                        <a:spcBef>
                          <a:spcPts val="0"/>
                        </a:spcBef>
                        <a:spcAft>
                          <a:spcPts val="0"/>
                        </a:spcAft>
                        <a:buNone/>
                      </a:pPr>
                      <a:r>
                        <a:rPr lang="en" sz="1000"/>
                        <a:t>(2023)</a:t>
                      </a:r>
                      <a:endParaRPr sz="10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521975" y="628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 Highlights</a:t>
            </a:r>
            <a:endParaRPr/>
          </a:p>
        </p:txBody>
      </p:sp>
      <p:sp>
        <p:nvSpPr>
          <p:cNvPr id="132" name="Google Shape;132;p20"/>
          <p:cNvSpPr txBox="1"/>
          <p:nvPr>
            <p:ph idx="1" type="body"/>
          </p:nvPr>
        </p:nvSpPr>
        <p:spPr>
          <a:xfrm>
            <a:off x="240250" y="819025"/>
            <a:ext cx="8703600" cy="4171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3" name="Google Shape;133;p20"/>
          <p:cNvPicPr preferRelativeResize="0"/>
          <p:nvPr/>
        </p:nvPicPr>
        <p:blipFill>
          <a:blip r:embed="rId3">
            <a:alphaModFix/>
          </a:blip>
          <a:stretch>
            <a:fillRect/>
          </a:stretch>
        </p:blipFill>
        <p:spPr>
          <a:xfrm>
            <a:off x="185625" y="598000"/>
            <a:ext cx="2798374" cy="2186700"/>
          </a:xfrm>
          <a:prstGeom prst="rect">
            <a:avLst/>
          </a:prstGeom>
          <a:noFill/>
          <a:ln>
            <a:noFill/>
          </a:ln>
        </p:spPr>
      </p:pic>
      <p:pic>
        <p:nvPicPr>
          <p:cNvPr id="134" name="Google Shape;134;p20"/>
          <p:cNvPicPr preferRelativeResize="0"/>
          <p:nvPr/>
        </p:nvPicPr>
        <p:blipFill>
          <a:blip r:embed="rId4">
            <a:alphaModFix/>
          </a:blip>
          <a:stretch>
            <a:fillRect/>
          </a:stretch>
        </p:blipFill>
        <p:spPr>
          <a:xfrm>
            <a:off x="3029225" y="709825"/>
            <a:ext cx="2736275" cy="2009350"/>
          </a:xfrm>
          <a:prstGeom prst="rect">
            <a:avLst/>
          </a:prstGeom>
          <a:noFill/>
          <a:ln>
            <a:noFill/>
          </a:ln>
        </p:spPr>
      </p:pic>
      <p:pic>
        <p:nvPicPr>
          <p:cNvPr id="135" name="Google Shape;135;p20"/>
          <p:cNvPicPr preferRelativeResize="0"/>
          <p:nvPr/>
        </p:nvPicPr>
        <p:blipFill>
          <a:blip r:embed="rId5">
            <a:alphaModFix/>
          </a:blip>
          <a:stretch>
            <a:fillRect/>
          </a:stretch>
        </p:blipFill>
        <p:spPr>
          <a:xfrm>
            <a:off x="5810726" y="571050"/>
            <a:ext cx="2926576" cy="2286900"/>
          </a:xfrm>
          <a:prstGeom prst="rect">
            <a:avLst/>
          </a:prstGeom>
          <a:noFill/>
          <a:ln>
            <a:noFill/>
          </a:ln>
        </p:spPr>
      </p:pic>
      <p:pic>
        <p:nvPicPr>
          <p:cNvPr id="136" name="Google Shape;136;p20"/>
          <p:cNvPicPr preferRelativeResize="0"/>
          <p:nvPr/>
        </p:nvPicPr>
        <p:blipFill>
          <a:blip r:embed="rId6">
            <a:alphaModFix/>
          </a:blip>
          <a:stretch>
            <a:fillRect/>
          </a:stretch>
        </p:blipFill>
        <p:spPr>
          <a:xfrm>
            <a:off x="360000" y="2931550"/>
            <a:ext cx="2669224" cy="2085800"/>
          </a:xfrm>
          <a:prstGeom prst="rect">
            <a:avLst/>
          </a:prstGeom>
          <a:noFill/>
          <a:ln>
            <a:noFill/>
          </a:ln>
        </p:spPr>
      </p:pic>
      <p:pic>
        <p:nvPicPr>
          <p:cNvPr id="137" name="Google Shape;137;p20"/>
          <p:cNvPicPr preferRelativeResize="0"/>
          <p:nvPr/>
        </p:nvPicPr>
        <p:blipFill>
          <a:blip r:embed="rId7">
            <a:alphaModFix/>
          </a:blip>
          <a:stretch>
            <a:fillRect/>
          </a:stretch>
        </p:blipFill>
        <p:spPr>
          <a:xfrm>
            <a:off x="3158876" y="2969775"/>
            <a:ext cx="2565899" cy="2009351"/>
          </a:xfrm>
          <a:prstGeom prst="rect">
            <a:avLst/>
          </a:prstGeom>
          <a:noFill/>
          <a:ln>
            <a:noFill/>
          </a:ln>
        </p:spPr>
      </p:pic>
      <p:pic>
        <p:nvPicPr>
          <p:cNvPr id="138" name="Google Shape;138;p20"/>
          <p:cNvPicPr preferRelativeResize="0"/>
          <p:nvPr/>
        </p:nvPicPr>
        <p:blipFill>
          <a:blip r:embed="rId8">
            <a:alphaModFix/>
          </a:blip>
          <a:stretch>
            <a:fillRect/>
          </a:stretch>
        </p:blipFill>
        <p:spPr>
          <a:xfrm>
            <a:off x="5854425" y="2831000"/>
            <a:ext cx="3019037" cy="2286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521950" y="51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 (Continue)</a:t>
            </a:r>
            <a:endParaRPr/>
          </a:p>
        </p:txBody>
      </p:sp>
      <p:sp>
        <p:nvSpPr>
          <p:cNvPr id="144" name="Google Shape;144;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5" name="Google Shape;145;p21"/>
          <p:cNvPicPr preferRelativeResize="0"/>
          <p:nvPr/>
        </p:nvPicPr>
        <p:blipFill>
          <a:blip r:embed="rId3">
            <a:alphaModFix/>
          </a:blip>
          <a:stretch>
            <a:fillRect/>
          </a:stretch>
        </p:blipFill>
        <p:spPr>
          <a:xfrm rot="5400000">
            <a:off x="-8188" y="1324713"/>
            <a:ext cx="4456900" cy="2981625"/>
          </a:xfrm>
          <a:prstGeom prst="rect">
            <a:avLst/>
          </a:prstGeom>
          <a:noFill/>
          <a:ln>
            <a:noFill/>
          </a:ln>
        </p:spPr>
      </p:pic>
      <p:pic>
        <p:nvPicPr>
          <p:cNvPr id="146" name="Google Shape;146;p21"/>
          <p:cNvPicPr preferRelativeResize="0"/>
          <p:nvPr/>
        </p:nvPicPr>
        <p:blipFill>
          <a:blip r:embed="rId4">
            <a:alphaModFix/>
          </a:blip>
          <a:stretch>
            <a:fillRect/>
          </a:stretch>
        </p:blipFill>
        <p:spPr>
          <a:xfrm>
            <a:off x="4515850" y="2945024"/>
            <a:ext cx="3992499" cy="1542400"/>
          </a:xfrm>
          <a:prstGeom prst="rect">
            <a:avLst/>
          </a:prstGeom>
          <a:noFill/>
          <a:ln>
            <a:noFill/>
          </a:ln>
        </p:spPr>
      </p:pic>
      <p:pic>
        <p:nvPicPr>
          <p:cNvPr id="147" name="Google Shape;147;p21"/>
          <p:cNvPicPr preferRelativeResize="0"/>
          <p:nvPr/>
        </p:nvPicPr>
        <p:blipFill>
          <a:blip r:embed="rId5">
            <a:alphaModFix/>
          </a:blip>
          <a:stretch>
            <a:fillRect/>
          </a:stretch>
        </p:blipFill>
        <p:spPr>
          <a:xfrm>
            <a:off x="5021287" y="424825"/>
            <a:ext cx="2981626" cy="22267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3" name="Google Shape;153;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4" name="Google Shape;154;p22"/>
          <p:cNvPicPr preferRelativeResize="0"/>
          <p:nvPr/>
        </p:nvPicPr>
        <p:blipFill>
          <a:blip r:embed="rId3">
            <a:alphaModFix/>
          </a:blip>
          <a:stretch>
            <a:fillRect/>
          </a:stretch>
        </p:blipFill>
        <p:spPr>
          <a:xfrm>
            <a:off x="614356" y="0"/>
            <a:ext cx="6909288"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585775" y="92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Spatial Statistics</a:t>
            </a:r>
            <a:endParaRPr/>
          </a:p>
        </p:txBody>
      </p:sp>
      <p:sp>
        <p:nvSpPr>
          <p:cNvPr id="160" name="Google Shape;160;p23"/>
          <p:cNvSpPr txBox="1"/>
          <p:nvPr>
            <p:ph idx="1" type="body"/>
          </p:nvPr>
        </p:nvSpPr>
        <p:spPr>
          <a:xfrm>
            <a:off x="153250" y="785425"/>
            <a:ext cx="8265000" cy="4272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Applied </a:t>
            </a:r>
            <a:r>
              <a:rPr b="1" lang="en" sz="1100">
                <a:solidFill>
                  <a:srgbClr val="000000"/>
                </a:solidFill>
                <a:latin typeface="Arial"/>
                <a:ea typeface="Arial"/>
                <a:cs typeface="Arial"/>
                <a:sym typeface="Arial"/>
              </a:rPr>
              <a:t>Global Moran’s I</a:t>
            </a:r>
            <a:r>
              <a:rPr lang="en" sz="1100">
                <a:solidFill>
                  <a:srgbClr val="000000"/>
                </a:solidFill>
                <a:latin typeface="Arial"/>
                <a:ea typeface="Arial"/>
                <a:cs typeface="Arial"/>
                <a:sym typeface="Arial"/>
              </a:rPr>
              <a:t> on county-level obesity</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Mean Neighbors: 5.80</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Moran’s I = </a:t>
            </a:r>
            <a:r>
              <a:rPr b="1" lang="en" sz="1100">
                <a:solidFill>
                  <a:srgbClr val="000000"/>
                </a:solidFill>
                <a:latin typeface="Arial"/>
                <a:ea typeface="Arial"/>
                <a:cs typeface="Arial"/>
                <a:sym typeface="Arial"/>
              </a:rPr>
              <a:t>0.3396</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p-value = </a:t>
            </a:r>
            <a:r>
              <a:rPr b="1" lang="en" sz="1100">
                <a:solidFill>
                  <a:srgbClr val="000000"/>
                </a:solidFill>
                <a:latin typeface="Arial"/>
                <a:ea typeface="Arial"/>
                <a:cs typeface="Arial"/>
                <a:sym typeface="Arial"/>
              </a:rPr>
              <a:t>0.001</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Confirms </a:t>
            </a:r>
            <a:r>
              <a:rPr b="1" lang="en" sz="1100">
                <a:solidFill>
                  <a:srgbClr val="000000"/>
                </a:solidFill>
                <a:latin typeface="Arial"/>
                <a:ea typeface="Arial"/>
                <a:cs typeface="Arial"/>
                <a:sym typeface="Arial"/>
              </a:rPr>
              <a:t>statistically significant regional clustering</a:t>
            </a: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 sz="1900">
                <a:solidFill>
                  <a:srgbClr val="000000"/>
                </a:solidFill>
                <a:latin typeface="Arial"/>
                <a:ea typeface="Arial"/>
                <a:cs typeface="Arial"/>
                <a:sym typeface="Arial"/>
              </a:rPr>
              <a:t>Causal Modeling</a:t>
            </a:r>
            <a:endParaRPr b="1" sz="19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19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R² = </a:t>
            </a:r>
            <a:r>
              <a:rPr b="1" lang="en" sz="1100">
                <a:solidFill>
                  <a:srgbClr val="000000"/>
                </a:solidFill>
                <a:latin typeface="Arial"/>
                <a:ea typeface="Arial"/>
                <a:cs typeface="Arial"/>
                <a:sym typeface="Arial"/>
              </a:rPr>
              <a:t>0.36</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F-statistic p &lt; </a:t>
            </a:r>
            <a:r>
              <a:rPr b="1" lang="en" sz="1100">
                <a:solidFill>
                  <a:srgbClr val="000000"/>
                </a:solidFill>
                <a:latin typeface="Arial"/>
                <a:ea typeface="Arial"/>
                <a:cs typeface="Arial"/>
                <a:sym typeface="Arial"/>
              </a:rPr>
              <a:t>0.001</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Sample = </a:t>
            </a:r>
            <a:r>
              <a:rPr b="1" lang="en" sz="1100">
                <a:solidFill>
                  <a:srgbClr val="000000"/>
                </a:solidFill>
                <a:latin typeface="Arial"/>
                <a:ea typeface="Arial"/>
                <a:cs typeface="Arial"/>
                <a:sym typeface="Arial"/>
              </a:rPr>
              <a:t>3,121 counties</a:t>
            </a:r>
            <a:endParaRPr b="1" sz="1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1100">
              <a:solidFill>
                <a:srgbClr val="000000"/>
              </a:solidFill>
              <a:latin typeface="Arial"/>
              <a:ea typeface="Arial"/>
              <a:cs typeface="Arial"/>
              <a:sym typeface="Arial"/>
            </a:endParaRPr>
          </a:p>
        </p:txBody>
      </p:sp>
      <p:pic>
        <p:nvPicPr>
          <p:cNvPr id="161" name="Google Shape;161;p23"/>
          <p:cNvPicPr preferRelativeResize="0"/>
          <p:nvPr/>
        </p:nvPicPr>
        <p:blipFill>
          <a:blip r:embed="rId3">
            <a:alphaModFix/>
          </a:blip>
          <a:stretch>
            <a:fillRect/>
          </a:stretch>
        </p:blipFill>
        <p:spPr>
          <a:xfrm>
            <a:off x="5079550" y="2571763"/>
            <a:ext cx="1695450" cy="1704190"/>
          </a:xfrm>
          <a:prstGeom prst="rect">
            <a:avLst/>
          </a:prstGeom>
          <a:noFill/>
          <a:ln>
            <a:noFill/>
          </a:ln>
        </p:spPr>
      </p:pic>
      <p:pic>
        <p:nvPicPr>
          <p:cNvPr id="162" name="Google Shape;162;p23"/>
          <p:cNvPicPr preferRelativeResize="0"/>
          <p:nvPr/>
        </p:nvPicPr>
        <p:blipFill>
          <a:blip r:embed="rId4">
            <a:alphaModFix/>
          </a:blip>
          <a:stretch>
            <a:fillRect/>
          </a:stretch>
        </p:blipFill>
        <p:spPr>
          <a:xfrm>
            <a:off x="3758750" y="319225"/>
            <a:ext cx="5251499" cy="2252525"/>
          </a:xfrm>
          <a:prstGeom prst="rect">
            <a:avLst/>
          </a:prstGeom>
          <a:noFill/>
          <a:ln>
            <a:noFill/>
          </a:ln>
        </p:spPr>
      </p:pic>
      <p:pic>
        <p:nvPicPr>
          <p:cNvPr id="163" name="Google Shape;163;p23"/>
          <p:cNvPicPr preferRelativeResize="0"/>
          <p:nvPr/>
        </p:nvPicPr>
        <p:blipFill>
          <a:blip r:embed="rId5">
            <a:alphaModFix/>
          </a:blip>
          <a:stretch>
            <a:fillRect/>
          </a:stretch>
        </p:blipFill>
        <p:spPr>
          <a:xfrm>
            <a:off x="7307775" y="3133863"/>
            <a:ext cx="1420275" cy="1142075"/>
          </a:xfrm>
          <a:prstGeom prst="rect">
            <a:avLst/>
          </a:prstGeom>
          <a:noFill/>
          <a:ln>
            <a:noFill/>
          </a:ln>
        </p:spPr>
      </p:pic>
      <p:sp>
        <p:nvSpPr>
          <p:cNvPr id="164" name="Google Shape;164;p23"/>
          <p:cNvSpPr txBox="1"/>
          <p:nvPr/>
        </p:nvSpPr>
        <p:spPr>
          <a:xfrm>
            <a:off x="5079550" y="4384300"/>
            <a:ext cx="3743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GETIS-ORD Gi*			Quantile Based</a:t>
            </a:r>
            <a:endParaRPr sz="1300">
              <a:solidFill>
                <a:schemeClr val="accent1"/>
              </a:solidFill>
              <a:latin typeface="Lato"/>
              <a:ea typeface="Lato"/>
              <a:cs typeface="Lato"/>
              <a:sym typeface="Lato"/>
            </a:endParaRPr>
          </a:p>
        </p:txBody>
      </p:sp>
      <p:pic>
        <p:nvPicPr>
          <p:cNvPr id="165" name="Google Shape;165;p23"/>
          <p:cNvPicPr preferRelativeResize="0"/>
          <p:nvPr/>
        </p:nvPicPr>
        <p:blipFill>
          <a:blip r:embed="rId6">
            <a:alphaModFix/>
          </a:blip>
          <a:stretch>
            <a:fillRect/>
          </a:stretch>
        </p:blipFill>
        <p:spPr>
          <a:xfrm>
            <a:off x="1823425" y="3268275"/>
            <a:ext cx="3123649" cy="873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 name="Shape 169"/>
        <p:cNvGrpSpPr/>
        <p:nvPr/>
      </p:nvGrpSpPr>
      <p:grpSpPr>
        <a:xfrm>
          <a:off x="0" y="0"/>
          <a:ext cx="0" cy="0"/>
          <a:chOff x="0" y="0"/>
          <a:chExt cx="0" cy="0"/>
        </a:xfrm>
      </p:grpSpPr>
      <p:sp>
        <p:nvSpPr>
          <p:cNvPr id="170" name="Google Shape;170;p24"/>
          <p:cNvSpPr txBox="1"/>
          <p:nvPr>
            <p:ph type="title"/>
          </p:nvPr>
        </p:nvSpPr>
        <p:spPr>
          <a:xfrm>
            <a:off x="539325" y="5793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Low Access to Healthy Food</a:t>
            </a:r>
            <a:endParaRPr/>
          </a:p>
        </p:txBody>
      </p:sp>
      <p:sp>
        <p:nvSpPr>
          <p:cNvPr id="171" name="Google Shape;171;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2" name="Google Shape;172;p24"/>
          <p:cNvPicPr preferRelativeResize="0"/>
          <p:nvPr/>
        </p:nvPicPr>
        <p:blipFill>
          <a:blip r:embed="rId3">
            <a:alphaModFix/>
          </a:blip>
          <a:stretch>
            <a:fillRect/>
          </a:stretch>
        </p:blipFill>
        <p:spPr>
          <a:xfrm>
            <a:off x="98250" y="3083525"/>
            <a:ext cx="8839204" cy="362545"/>
          </a:xfrm>
          <a:prstGeom prst="rect">
            <a:avLst/>
          </a:prstGeom>
          <a:noFill/>
          <a:ln>
            <a:noFill/>
          </a:ln>
        </p:spPr>
      </p:pic>
      <p:pic>
        <p:nvPicPr>
          <p:cNvPr id="173" name="Google Shape;173;p24"/>
          <p:cNvPicPr preferRelativeResize="0"/>
          <p:nvPr/>
        </p:nvPicPr>
        <p:blipFill>
          <a:blip r:embed="rId4">
            <a:alphaModFix/>
          </a:blip>
          <a:stretch>
            <a:fillRect/>
          </a:stretch>
        </p:blipFill>
        <p:spPr>
          <a:xfrm>
            <a:off x="98250" y="1569934"/>
            <a:ext cx="9144003" cy="151358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9" name="Google Shape;179;p25"/>
          <p:cNvSpPr txBox="1"/>
          <p:nvPr>
            <p:ph idx="1" type="body"/>
          </p:nvPr>
        </p:nvSpPr>
        <p:spPr>
          <a:xfrm>
            <a:off x="3389250" y="3459275"/>
            <a:ext cx="1446600" cy="1275600"/>
          </a:xfrm>
          <a:prstGeom prst="rect">
            <a:avLst/>
          </a:prstGeom>
        </p:spPr>
        <p:txBody>
          <a:bodyPr anchorCtr="0" anchor="t" bIns="91425" lIns="91425" spcFirstLastPara="1" rIns="91425" wrap="square" tIns="91425">
            <a:normAutofit/>
          </a:bodyPr>
          <a:lstStyle/>
          <a:p>
            <a:pPr indent="0" lvl="0" marL="0" rtl="0" algn="l">
              <a:lnSpc>
                <a:spcPct val="135714"/>
              </a:lnSpc>
              <a:spcBef>
                <a:spcPts val="0"/>
              </a:spcBef>
              <a:spcAft>
                <a:spcPts val="0"/>
              </a:spcAft>
              <a:buNone/>
            </a:pPr>
            <a:r>
              <a:rPr lang="en" sz="700">
                <a:solidFill>
                  <a:srgbClr val="000000"/>
                </a:solidFill>
                <a:highlight>
                  <a:srgbClr val="FFFFFF"/>
                </a:highlight>
                <a:latin typeface="Courier New"/>
                <a:ea typeface="Courier New"/>
                <a:cs typeface="Courier New"/>
                <a:sym typeface="Courier New"/>
              </a:rPr>
              <a:t>demo_features = [</a:t>
            </a:r>
            <a:endParaRPr sz="7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solidFill>
                  <a:srgbClr val="000000"/>
                </a:solidFill>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"pct_white"</a:t>
            </a:r>
            <a:r>
              <a:rPr lang="en" sz="700">
                <a:solidFill>
                  <a:srgbClr val="000000"/>
                </a:solidFill>
                <a:highlight>
                  <a:srgbClr val="FFFFFF"/>
                </a:highlight>
                <a:latin typeface="Courier New"/>
                <a:ea typeface="Courier New"/>
                <a:cs typeface="Courier New"/>
                <a:sym typeface="Courier New"/>
              </a:rPr>
              <a:t>,</a:t>
            </a:r>
            <a:endParaRPr sz="7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solidFill>
                  <a:srgbClr val="000000"/>
                </a:solidFill>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"pct_black"</a:t>
            </a:r>
            <a:r>
              <a:rPr lang="en" sz="700">
                <a:solidFill>
                  <a:srgbClr val="000000"/>
                </a:solidFill>
                <a:highlight>
                  <a:srgbClr val="FFFFFF"/>
                </a:highlight>
                <a:latin typeface="Courier New"/>
                <a:ea typeface="Courier New"/>
                <a:cs typeface="Courier New"/>
                <a:sym typeface="Courier New"/>
              </a:rPr>
              <a:t>,</a:t>
            </a:r>
            <a:endParaRPr sz="7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solidFill>
                  <a:srgbClr val="000000"/>
                </a:solidFill>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"pct_hispanic"</a:t>
            </a:r>
            <a:r>
              <a:rPr lang="en" sz="700">
                <a:solidFill>
                  <a:srgbClr val="000000"/>
                </a:solidFill>
                <a:highlight>
                  <a:srgbClr val="FFFFFF"/>
                </a:highlight>
                <a:latin typeface="Courier New"/>
                <a:ea typeface="Courier New"/>
                <a:cs typeface="Courier New"/>
                <a:sym typeface="Courier New"/>
              </a:rPr>
              <a:t>,</a:t>
            </a:r>
            <a:endParaRPr sz="7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solidFill>
                  <a:srgbClr val="000000"/>
                </a:solidFill>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"pct_asian"</a:t>
            </a:r>
            <a:r>
              <a:rPr lang="en" sz="700">
                <a:solidFill>
                  <a:srgbClr val="000000"/>
                </a:solidFill>
                <a:highlight>
                  <a:srgbClr val="FFFFFF"/>
                </a:highlight>
                <a:latin typeface="Courier New"/>
                <a:ea typeface="Courier New"/>
                <a:cs typeface="Courier New"/>
                <a:sym typeface="Courier New"/>
              </a:rPr>
              <a:t>,</a:t>
            </a:r>
            <a:endParaRPr sz="7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solidFill>
                  <a:srgbClr val="000000"/>
                </a:solidFill>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"pct_native"</a:t>
            </a:r>
            <a:endParaRPr sz="7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solidFill>
                  <a:srgbClr val="000000"/>
                </a:solidFill>
                <a:highlight>
                  <a:srgbClr val="FFFFFF"/>
                </a:highlight>
                <a:latin typeface="Courier New"/>
                <a:ea typeface="Courier New"/>
                <a:cs typeface="Courier New"/>
                <a:sym typeface="Courier New"/>
              </a:rPr>
              <a:t>]</a:t>
            </a:r>
            <a:endParaRPr sz="700"/>
          </a:p>
        </p:txBody>
      </p:sp>
      <p:pic>
        <p:nvPicPr>
          <p:cNvPr id="180" name="Google Shape;180;p25"/>
          <p:cNvPicPr preferRelativeResize="0"/>
          <p:nvPr/>
        </p:nvPicPr>
        <p:blipFill>
          <a:blip r:embed="rId3">
            <a:alphaModFix/>
          </a:blip>
          <a:stretch>
            <a:fillRect/>
          </a:stretch>
        </p:blipFill>
        <p:spPr>
          <a:xfrm>
            <a:off x="0" y="750075"/>
            <a:ext cx="3071351" cy="2492619"/>
          </a:xfrm>
          <a:prstGeom prst="rect">
            <a:avLst/>
          </a:prstGeom>
          <a:noFill/>
          <a:ln>
            <a:noFill/>
          </a:ln>
        </p:spPr>
      </p:pic>
      <p:pic>
        <p:nvPicPr>
          <p:cNvPr id="181" name="Google Shape;181;p25"/>
          <p:cNvPicPr preferRelativeResize="0"/>
          <p:nvPr/>
        </p:nvPicPr>
        <p:blipFill>
          <a:blip r:embed="rId4">
            <a:alphaModFix/>
          </a:blip>
          <a:stretch>
            <a:fillRect/>
          </a:stretch>
        </p:blipFill>
        <p:spPr>
          <a:xfrm>
            <a:off x="5903599" y="691163"/>
            <a:ext cx="3240400" cy="2610451"/>
          </a:xfrm>
          <a:prstGeom prst="rect">
            <a:avLst/>
          </a:prstGeom>
          <a:noFill/>
          <a:ln>
            <a:noFill/>
          </a:ln>
        </p:spPr>
      </p:pic>
      <p:pic>
        <p:nvPicPr>
          <p:cNvPr id="182" name="Google Shape;182;p25"/>
          <p:cNvPicPr preferRelativeResize="0"/>
          <p:nvPr/>
        </p:nvPicPr>
        <p:blipFill>
          <a:blip r:embed="rId5">
            <a:alphaModFix/>
          </a:blip>
          <a:stretch>
            <a:fillRect/>
          </a:stretch>
        </p:blipFill>
        <p:spPr>
          <a:xfrm>
            <a:off x="2928050" y="759250"/>
            <a:ext cx="3071350" cy="2474275"/>
          </a:xfrm>
          <a:prstGeom prst="rect">
            <a:avLst/>
          </a:prstGeom>
          <a:noFill/>
          <a:ln>
            <a:noFill/>
          </a:ln>
        </p:spPr>
      </p:pic>
      <p:sp>
        <p:nvSpPr>
          <p:cNvPr id="183" name="Google Shape;183;p25"/>
          <p:cNvSpPr txBox="1"/>
          <p:nvPr/>
        </p:nvSpPr>
        <p:spPr>
          <a:xfrm>
            <a:off x="0" y="3242700"/>
            <a:ext cx="1927500" cy="1900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all_features = [</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"poverty_rate"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"median_household_income"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"physical_inactivity_rate"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"low_access_food_rate"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"unemployment_rate"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solidFill>
                  <a:srgbClr val="A31515"/>
                </a:solidFill>
                <a:highlight>
                  <a:srgbClr val="FFFFFF"/>
                </a:highlight>
                <a:latin typeface="Courier New"/>
                <a:ea typeface="Courier New"/>
                <a:cs typeface="Courier New"/>
                <a:sym typeface="Courier New"/>
              </a:rPr>
              <a:t>   "pct_white"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"pct_black"</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"pct_hispanic"</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"pct_asian"</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"pct_native"</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a:t>
            </a:r>
            <a:endParaRPr sz="700">
              <a:solidFill>
                <a:schemeClr val="accent1"/>
              </a:solidFill>
              <a:latin typeface="Lato"/>
              <a:ea typeface="Lato"/>
              <a:cs typeface="Lato"/>
              <a:sym typeface="Lato"/>
            </a:endParaRPr>
          </a:p>
        </p:txBody>
      </p:sp>
      <p:sp>
        <p:nvSpPr>
          <p:cNvPr id="184" name="Google Shape;184;p25"/>
          <p:cNvSpPr txBox="1"/>
          <p:nvPr/>
        </p:nvSpPr>
        <p:spPr>
          <a:xfrm>
            <a:off x="6472150" y="3439025"/>
            <a:ext cx="2103300" cy="13161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ses_features = [</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"poverty_rate"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"median_household_income"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"physical_inactivity_rate"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"low_access_food_rate"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"unemployment_rate"</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700">
              <a:solidFill>
                <a:schemeClr val="accent1"/>
              </a:solidFill>
              <a:latin typeface="Lato"/>
              <a:ea typeface="Lato"/>
              <a:cs typeface="Lato"/>
              <a:sym typeface="Lato"/>
            </a:endParaRPr>
          </a:p>
        </p:txBody>
      </p:sp>
      <p:sp>
        <p:nvSpPr>
          <p:cNvPr id="185" name="Google Shape;185;p25"/>
          <p:cNvSpPr txBox="1"/>
          <p:nvPr/>
        </p:nvSpPr>
        <p:spPr>
          <a:xfrm>
            <a:off x="211225" y="63375"/>
            <a:ext cx="6083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Unsupervised Learning [Target variable - obesity_rate]</a:t>
            </a:r>
            <a:endParaRPr sz="1300">
              <a:solidFill>
                <a:schemeClr val="accent1"/>
              </a:solidFill>
              <a:latin typeface="Lato"/>
              <a:ea typeface="Lato"/>
              <a:cs typeface="Lato"/>
              <a:sym typeface="Lato"/>
            </a:endParaRPr>
          </a:p>
        </p:txBody>
      </p:sp>
      <p:sp>
        <p:nvSpPr>
          <p:cNvPr id="186" name="Google Shape;186;p25"/>
          <p:cNvSpPr txBox="1"/>
          <p:nvPr/>
        </p:nvSpPr>
        <p:spPr>
          <a:xfrm>
            <a:off x="1868275" y="4636550"/>
            <a:ext cx="6083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KMeans, Agglomerative, GMM, Spectral, DBScan, HDBScan</a:t>
            </a:r>
            <a:endParaRPr sz="13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2" name="Google Shape;192;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3" name="Google Shape;193;p26"/>
          <p:cNvPicPr preferRelativeResize="0"/>
          <p:nvPr/>
        </p:nvPicPr>
        <p:blipFill>
          <a:blip r:embed="rId3">
            <a:alphaModFix/>
          </a:blip>
          <a:stretch>
            <a:fillRect/>
          </a:stretch>
        </p:blipFill>
        <p:spPr>
          <a:xfrm>
            <a:off x="473211" y="0"/>
            <a:ext cx="8197576" cy="51434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ph type="title"/>
          </p:nvPr>
        </p:nvSpPr>
        <p:spPr>
          <a:xfrm>
            <a:off x="613275"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Supervised Learning</a:t>
            </a:r>
            <a:endParaRPr/>
          </a:p>
        </p:txBody>
      </p:sp>
      <p:sp>
        <p:nvSpPr>
          <p:cNvPr id="199" name="Google Shape;199;p27"/>
          <p:cNvSpPr txBox="1"/>
          <p:nvPr>
            <p:ph idx="1" type="body"/>
          </p:nvPr>
        </p:nvSpPr>
        <p:spPr>
          <a:xfrm>
            <a:off x="4321400" y="1403825"/>
            <a:ext cx="4708500" cy="3405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358"/>
              <a:buNone/>
            </a:pPr>
            <a:r>
              <a:rPr lang="en" sz="1000"/>
              <a:t>Why Random Forest and Gradient Boosting?</a:t>
            </a:r>
            <a:endParaRPr sz="1000"/>
          </a:p>
          <a:p>
            <a:pPr indent="-298450" lvl="0" marL="457200" rtl="0" algn="l">
              <a:lnSpc>
                <a:spcPct val="95000"/>
              </a:lnSpc>
              <a:spcBef>
                <a:spcPts val="1200"/>
              </a:spcBef>
              <a:spcAft>
                <a:spcPts val="0"/>
              </a:spcAft>
              <a:buClr>
                <a:srgbClr val="000000"/>
              </a:buClr>
              <a:buSzPts val="1100"/>
              <a:buChar char="●"/>
            </a:pPr>
            <a:r>
              <a:rPr lang="en" sz="1100">
                <a:solidFill>
                  <a:srgbClr val="000000"/>
                </a:solidFill>
              </a:rPr>
              <a:t>Learn non-linear thresholds</a:t>
            </a:r>
            <a:endParaRPr sz="1100">
              <a:solidFill>
                <a:srgbClr val="000000"/>
              </a:solidFill>
            </a:endParaRPr>
          </a:p>
          <a:p>
            <a:pPr indent="-298450" lvl="0" marL="457200" rtl="0" algn="l">
              <a:lnSpc>
                <a:spcPct val="95000"/>
              </a:lnSpc>
              <a:spcBef>
                <a:spcPts val="0"/>
              </a:spcBef>
              <a:spcAft>
                <a:spcPts val="0"/>
              </a:spcAft>
              <a:buClr>
                <a:srgbClr val="000000"/>
              </a:buClr>
              <a:buSzPts val="1100"/>
              <a:buChar char="●"/>
            </a:pPr>
            <a:r>
              <a:rPr lang="en" sz="1100">
                <a:solidFill>
                  <a:srgbClr val="000000"/>
                </a:solidFill>
              </a:rPr>
              <a:t>Learn feature interactions automatically</a:t>
            </a:r>
            <a:endParaRPr sz="1100">
              <a:solidFill>
                <a:srgbClr val="000000"/>
              </a:solidFill>
            </a:endParaRPr>
          </a:p>
          <a:p>
            <a:pPr indent="-298450" lvl="0" marL="457200" rtl="0" algn="l">
              <a:lnSpc>
                <a:spcPct val="95000"/>
              </a:lnSpc>
              <a:spcBef>
                <a:spcPts val="0"/>
              </a:spcBef>
              <a:spcAft>
                <a:spcPts val="0"/>
              </a:spcAft>
              <a:buClr>
                <a:srgbClr val="000000"/>
              </a:buClr>
              <a:buSzPts val="1100"/>
              <a:buChar char="●"/>
            </a:pPr>
            <a:r>
              <a:rPr lang="en" sz="1100">
                <a:solidFill>
                  <a:srgbClr val="000000"/>
                </a:solidFill>
              </a:rPr>
              <a:t>No need to manually engineer interactions</a:t>
            </a:r>
            <a:endParaRPr sz="1100">
              <a:solidFill>
                <a:srgbClr val="000000"/>
              </a:solidFill>
            </a:endParaRPr>
          </a:p>
          <a:p>
            <a:pPr indent="0" lvl="0" marL="0" rtl="0" algn="l">
              <a:lnSpc>
                <a:spcPct val="95000"/>
              </a:lnSpc>
              <a:spcBef>
                <a:spcPts val="1200"/>
              </a:spcBef>
              <a:spcAft>
                <a:spcPts val="0"/>
              </a:spcAft>
              <a:buNone/>
            </a:pPr>
            <a:r>
              <a:t/>
            </a:r>
            <a:endParaRPr sz="1100">
              <a:solidFill>
                <a:srgbClr val="000000"/>
              </a:solidFill>
            </a:endParaRPr>
          </a:p>
          <a:p>
            <a:pPr indent="-298450" lvl="0" marL="457200" rtl="0" algn="l">
              <a:lnSpc>
                <a:spcPct val="95000"/>
              </a:lnSpc>
              <a:spcBef>
                <a:spcPts val="1200"/>
              </a:spcBef>
              <a:spcAft>
                <a:spcPts val="0"/>
              </a:spcAft>
              <a:buClr>
                <a:srgbClr val="000000"/>
              </a:buClr>
              <a:buSzPts val="1100"/>
              <a:buAutoNum type="arabicPeriod"/>
            </a:pPr>
            <a:r>
              <a:rPr lang="en" sz="1100">
                <a:solidFill>
                  <a:srgbClr val="000000"/>
                </a:solidFill>
              </a:rPr>
              <a:t>Linear models are ruled out because of the linear relationships (Linear, Ridge, Lasso)</a:t>
            </a:r>
            <a:endParaRPr sz="1100">
              <a:solidFill>
                <a:srgbClr val="000000"/>
              </a:solidFill>
            </a:endParaRPr>
          </a:p>
          <a:p>
            <a:pPr indent="0" lvl="0" marL="0" rtl="0" algn="l">
              <a:lnSpc>
                <a:spcPct val="95000"/>
              </a:lnSpc>
              <a:spcBef>
                <a:spcPts val="1200"/>
              </a:spcBef>
              <a:spcAft>
                <a:spcPts val="0"/>
              </a:spcAft>
              <a:buNone/>
            </a:pPr>
            <a:r>
              <a:t/>
            </a:r>
            <a:endParaRPr sz="1100">
              <a:solidFill>
                <a:srgbClr val="000000"/>
              </a:solidFill>
            </a:endParaRPr>
          </a:p>
          <a:p>
            <a:pPr indent="-298450" lvl="0" marL="457200" rtl="0" algn="l">
              <a:lnSpc>
                <a:spcPct val="95000"/>
              </a:lnSpc>
              <a:spcBef>
                <a:spcPts val="1200"/>
              </a:spcBef>
              <a:spcAft>
                <a:spcPts val="0"/>
              </a:spcAft>
              <a:buClr>
                <a:srgbClr val="000000"/>
              </a:buClr>
              <a:buSzPts val="1100"/>
              <a:buAutoNum type="arabicPeriod"/>
            </a:pPr>
            <a:r>
              <a:rPr lang="en" sz="1100">
                <a:solidFill>
                  <a:srgbClr val="000000"/>
                </a:solidFill>
              </a:rPr>
              <a:t>Methods like KNN and SVM rely heavily on distance metrics and scaling assumptions, which are poorly aligned with socioeconomic data. </a:t>
            </a:r>
            <a:endParaRPr sz="1100">
              <a:solidFill>
                <a:srgbClr val="000000"/>
              </a:solidFill>
            </a:endParaRPr>
          </a:p>
          <a:p>
            <a:pPr indent="0" lvl="0" marL="0" rtl="0" algn="l">
              <a:lnSpc>
                <a:spcPct val="95000"/>
              </a:lnSpc>
              <a:spcBef>
                <a:spcPts val="1200"/>
              </a:spcBef>
              <a:spcAft>
                <a:spcPts val="0"/>
              </a:spcAft>
              <a:buNone/>
            </a:pPr>
            <a:r>
              <a:t/>
            </a:r>
            <a:endParaRPr sz="1100">
              <a:solidFill>
                <a:srgbClr val="000000"/>
              </a:solidFill>
            </a:endParaRPr>
          </a:p>
          <a:p>
            <a:pPr indent="-298450" lvl="0" marL="457200" rtl="0" algn="l">
              <a:lnSpc>
                <a:spcPct val="95000"/>
              </a:lnSpc>
              <a:spcBef>
                <a:spcPts val="1200"/>
              </a:spcBef>
              <a:spcAft>
                <a:spcPts val="0"/>
              </a:spcAft>
              <a:buClr>
                <a:srgbClr val="000000"/>
              </a:buClr>
              <a:buSzPts val="1100"/>
              <a:buAutoNum type="arabicPeriod"/>
            </a:pPr>
            <a:r>
              <a:rPr lang="en" sz="1100">
                <a:solidFill>
                  <a:srgbClr val="000000"/>
                </a:solidFill>
              </a:rPr>
              <a:t>Neural networks are powerful but require larger datasets and sacrifice interpretability.</a:t>
            </a:r>
            <a:endParaRPr sz="1100">
              <a:solidFill>
                <a:srgbClr val="000000"/>
              </a:solidFill>
            </a:endParaRPr>
          </a:p>
          <a:p>
            <a:pPr indent="0" lvl="0" marL="0" rtl="0" algn="l">
              <a:lnSpc>
                <a:spcPct val="95000"/>
              </a:lnSpc>
              <a:spcBef>
                <a:spcPts val="1200"/>
              </a:spcBef>
              <a:spcAft>
                <a:spcPts val="1200"/>
              </a:spcAft>
              <a:buSzPts val="358"/>
              <a:buNone/>
            </a:pPr>
            <a:r>
              <a:t/>
            </a:r>
            <a:endParaRPr sz="1000"/>
          </a:p>
        </p:txBody>
      </p:sp>
      <p:sp>
        <p:nvSpPr>
          <p:cNvPr id="200" name="Google Shape;200;p27"/>
          <p:cNvSpPr txBox="1"/>
          <p:nvPr/>
        </p:nvSpPr>
        <p:spPr>
          <a:xfrm>
            <a:off x="367400" y="850100"/>
            <a:ext cx="3954000" cy="41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Target Variable:</a:t>
            </a:r>
            <a:br>
              <a:rPr lang="en" sz="1000">
                <a:latin typeface="Lato"/>
                <a:ea typeface="Lato"/>
                <a:cs typeface="Lato"/>
                <a:sym typeface="Lato"/>
              </a:rPr>
            </a:br>
            <a:endParaRPr sz="1000">
              <a:latin typeface="Lato"/>
              <a:ea typeface="Lato"/>
              <a:cs typeface="Lato"/>
              <a:sym typeface="Lato"/>
            </a:endParaRPr>
          </a:p>
          <a:p>
            <a:pPr indent="-292100" lvl="0" marL="457200" rtl="0" algn="l">
              <a:lnSpc>
                <a:spcPct val="115000"/>
              </a:lnSpc>
              <a:spcBef>
                <a:spcPts val="1200"/>
              </a:spcBef>
              <a:spcAft>
                <a:spcPts val="0"/>
              </a:spcAft>
              <a:buSzPts val="1000"/>
              <a:buFont typeface="Lato"/>
              <a:buChar char="●"/>
            </a:pPr>
            <a:r>
              <a:rPr lang="en" sz="1000">
                <a:solidFill>
                  <a:schemeClr val="dk2"/>
                </a:solidFill>
                <a:latin typeface="Lato"/>
                <a:ea typeface="Lato"/>
                <a:cs typeface="Lato"/>
                <a:sym typeface="Lato"/>
              </a:rPr>
              <a:t>o</a:t>
            </a:r>
            <a:r>
              <a:rPr lang="en" sz="1000">
                <a:solidFill>
                  <a:schemeClr val="dk2"/>
                </a:solidFill>
                <a:latin typeface="Lato"/>
                <a:ea typeface="Lato"/>
                <a:cs typeface="Lato"/>
                <a:sym typeface="Lato"/>
              </a:rPr>
              <a:t>besity_rate  </a:t>
            </a:r>
            <a:r>
              <a:rPr lang="en" sz="1000">
                <a:latin typeface="Lato"/>
                <a:ea typeface="Lato"/>
                <a:cs typeface="Lato"/>
                <a:sym typeface="Lato"/>
              </a:rPr>
              <a:t> (county-level)</a:t>
            </a:r>
            <a:endParaRPr sz="1000">
              <a:latin typeface="Lato"/>
              <a:ea typeface="Lato"/>
              <a:cs typeface="Lato"/>
              <a:sym typeface="Lato"/>
            </a:endParaRPr>
          </a:p>
          <a:p>
            <a:pPr indent="0" lvl="0" marL="0" rtl="0" algn="l">
              <a:lnSpc>
                <a:spcPct val="115000"/>
              </a:lnSpc>
              <a:spcBef>
                <a:spcPts val="1200"/>
              </a:spcBef>
              <a:spcAft>
                <a:spcPts val="0"/>
              </a:spcAft>
              <a:buNone/>
            </a:pPr>
            <a:r>
              <a:rPr lang="en" sz="1000">
                <a:latin typeface="Lato"/>
                <a:ea typeface="Lato"/>
                <a:cs typeface="Lato"/>
                <a:sym typeface="Lato"/>
              </a:rPr>
              <a:t>Input Feature Groups:</a:t>
            </a:r>
            <a:endParaRPr sz="1000">
              <a:latin typeface="Lato"/>
              <a:ea typeface="Lato"/>
              <a:cs typeface="Lato"/>
              <a:sym typeface="Lato"/>
            </a:endParaRPr>
          </a:p>
          <a:p>
            <a:pPr indent="-292100" lvl="0" marL="457200" rtl="0" algn="l">
              <a:lnSpc>
                <a:spcPct val="115000"/>
              </a:lnSpc>
              <a:spcBef>
                <a:spcPts val="1200"/>
              </a:spcBef>
              <a:spcAft>
                <a:spcPts val="0"/>
              </a:spcAft>
              <a:buSzPts val="1000"/>
              <a:buFont typeface="Lato"/>
              <a:buChar char="●"/>
            </a:pPr>
            <a:r>
              <a:rPr lang="en" sz="1000">
                <a:latin typeface="Lato"/>
                <a:ea typeface="Lato"/>
                <a:cs typeface="Lato"/>
                <a:sym typeface="Lato"/>
              </a:rPr>
              <a:t>Economic: poverty, median income, unemployment</a:t>
            </a:r>
            <a:br>
              <a:rPr lang="en" sz="1000">
                <a:latin typeface="Lato"/>
                <a:ea typeface="Lato"/>
                <a:cs typeface="Lato"/>
                <a:sym typeface="Lato"/>
              </a:rPr>
            </a:br>
            <a:endParaRPr sz="1000">
              <a:latin typeface="Lato"/>
              <a:ea typeface="Lato"/>
              <a:cs typeface="Lato"/>
              <a:sym typeface="Lato"/>
            </a:endParaRPr>
          </a:p>
          <a:p>
            <a:pPr indent="-292100" lvl="0" marL="457200" rtl="0" algn="l">
              <a:lnSpc>
                <a:spcPct val="115000"/>
              </a:lnSpc>
              <a:spcBef>
                <a:spcPts val="0"/>
              </a:spcBef>
              <a:spcAft>
                <a:spcPts val="0"/>
              </a:spcAft>
              <a:buSzPts val="1000"/>
              <a:buFont typeface="Lato"/>
              <a:buChar char="●"/>
            </a:pPr>
            <a:r>
              <a:rPr lang="en" sz="1000">
                <a:latin typeface="Lato"/>
                <a:ea typeface="Lato"/>
                <a:cs typeface="Lato"/>
                <a:sym typeface="Lato"/>
              </a:rPr>
              <a:t>Health: physical inactivity, food access</a:t>
            </a:r>
            <a:br>
              <a:rPr lang="en" sz="1000">
                <a:latin typeface="Lato"/>
                <a:ea typeface="Lato"/>
                <a:cs typeface="Lato"/>
                <a:sym typeface="Lato"/>
              </a:rPr>
            </a:br>
            <a:endParaRPr sz="1000">
              <a:latin typeface="Lato"/>
              <a:ea typeface="Lato"/>
              <a:cs typeface="Lato"/>
              <a:sym typeface="Lato"/>
            </a:endParaRPr>
          </a:p>
          <a:p>
            <a:pPr indent="-292100" lvl="0" marL="457200" rtl="0" algn="l">
              <a:lnSpc>
                <a:spcPct val="115000"/>
              </a:lnSpc>
              <a:spcBef>
                <a:spcPts val="0"/>
              </a:spcBef>
              <a:spcAft>
                <a:spcPts val="0"/>
              </a:spcAft>
              <a:buSzPts val="1000"/>
              <a:buFont typeface="Lato"/>
              <a:buChar char="●"/>
            </a:pPr>
            <a:r>
              <a:rPr lang="en" sz="1000">
                <a:latin typeface="Lato"/>
                <a:ea typeface="Lato"/>
                <a:cs typeface="Lato"/>
                <a:sym typeface="Lato"/>
              </a:rPr>
              <a:t>Demographic: racial composition</a:t>
            </a:r>
            <a:endParaRPr sz="1000">
              <a:latin typeface="Lato"/>
              <a:ea typeface="Lato"/>
              <a:cs typeface="Lato"/>
              <a:sym typeface="Lato"/>
            </a:endParaRPr>
          </a:p>
          <a:p>
            <a:pPr indent="0" lvl="0" marL="0" rtl="0" algn="l">
              <a:lnSpc>
                <a:spcPct val="115000"/>
              </a:lnSpc>
              <a:spcBef>
                <a:spcPts val="1200"/>
              </a:spcBef>
              <a:spcAft>
                <a:spcPts val="0"/>
              </a:spcAft>
              <a:buNone/>
            </a:pPr>
            <a:r>
              <a:rPr lang="en" sz="1000">
                <a:latin typeface="Lato"/>
                <a:ea typeface="Lato"/>
                <a:cs typeface="Lato"/>
                <a:sym typeface="Lato"/>
              </a:rPr>
              <a:t>Learning Task:</a:t>
            </a:r>
            <a:endParaRPr sz="1000">
              <a:latin typeface="Lato"/>
              <a:ea typeface="Lato"/>
              <a:cs typeface="Lato"/>
              <a:sym typeface="Lato"/>
            </a:endParaRPr>
          </a:p>
          <a:p>
            <a:pPr indent="-292100" lvl="0" marL="457200" rtl="0" algn="l">
              <a:lnSpc>
                <a:spcPct val="115000"/>
              </a:lnSpc>
              <a:spcBef>
                <a:spcPts val="1200"/>
              </a:spcBef>
              <a:spcAft>
                <a:spcPts val="0"/>
              </a:spcAft>
              <a:buSzPts val="1000"/>
              <a:buFont typeface="Lato"/>
              <a:buChar char="●"/>
            </a:pPr>
            <a:r>
              <a:rPr lang="en" sz="1000">
                <a:latin typeface="Lato"/>
                <a:ea typeface="Lato"/>
                <a:cs typeface="Lato"/>
                <a:sym typeface="Lato"/>
              </a:rPr>
              <a:t>Regression</a:t>
            </a:r>
            <a:endParaRPr sz="1000">
              <a:latin typeface="Lato"/>
              <a:ea typeface="Lato"/>
              <a:cs typeface="Lato"/>
              <a:sym typeface="Lato"/>
            </a:endParaRPr>
          </a:p>
          <a:p>
            <a:pPr indent="0" lvl="0" marL="0" rtl="0" algn="l">
              <a:lnSpc>
                <a:spcPct val="115000"/>
              </a:lnSpc>
              <a:spcBef>
                <a:spcPts val="1200"/>
              </a:spcBef>
              <a:spcAft>
                <a:spcPts val="0"/>
              </a:spcAft>
              <a:buNone/>
            </a:pPr>
            <a:r>
              <a:rPr lang="en" sz="1000">
                <a:latin typeface="Lato"/>
                <a:ea typeface="Lato"/>
                <a:cs typeface="Lato"/>
                <a:sym typeface="Lato"/>
              </a:rPr>
              <a:t>Objective:</a:t>
            </a:r>
            <a:endParaRPr sz="1000">
              <a:latin typeface="Lato"/>
              <a:ea typeface="Lato"/>
              <a:cs typeface="Lato"/>
              <a:sym typeface="Lato"/>
            </a:endParaRPr>
          </a:p>
          <a:p>
            <a:pPr indent="-292100" lvl="0" marL="457200" rtl="0" algn="l">
              <a:lnSpc>
                <a:spcPct val="115000"/>
              </a:lnSpc>
              <a:spcBef>
                <a:spcPts val="1200"/>
              </a:spcBef>
              <a:spcAft>
                <a:spcPts val="0"/>
              </a:spcAft>
              <a:buSzPts val="1000"/>
              <a:buFont typeface="Lato"/>
              <a:buChar char="●"/>
            </a:pPr>
            <a:r>
              <a:rPr lang="en" sz="1000">
                <a:latin typeface="Lato"/>
                <a:ea typeface="Lato"/>
                <a:cs typeface="Lato"/>
                <a:sym typeface="Lato"/>
              </a:rPr>
              <a:t>Predict obesity</a:t>
            </a:r>
            <a:br>
              <a:rPr lang="en" sz="1000">
                <a:latin typeface="Lato"/>
                <a:ea typeface="Lato"/>
                <a:cs typeface="Lato"/>
                <a:sym typeface="Lato"/>
              </a:rPr>
            </a:br>
            <a:endParaRPr sz="1000">
              <a:latin typeface="Lato"/>
              <a:ea typeface="Lato"/>
              <a:cs typeface="Lato"/>
              <a:sym typeface="Lato"/>
            </a:endParaRPr>
          </a:p>
          <a:p>
            <a:pPr indent="-292100" lvl="0" marL="457200" rtl="0" algn="l">
              <a:lnSpc>
                <a:spcPct val="115000"/>
              </a:lnSpc>
              <a:spcBef>
                <a:spcPts val="0"/>
              </a:spcBef>
              <a:spcAft>
                <a:spcPts val="0"/>
              </a:spcAft>
              <a:buSzPts val="1000"/>
              <a:buFont typeface="Lato"/>
              <a:buChar char="●"/>
            </a:pPr>
            <a:r>
              <a:rPr lang="en" sz="1000">
                <a:latin typeface="Lato"/>
                <a:ea typeface="Lato"/>
                <a:cs typeface="Lato"/>
                <a:sym typeface="Lato"/>
              </a:rPr>
              <a:t>Quantify deviation from expected outcomes</a:t>
            </a:r>
            <a:endParaRPr sz="1000">
              <a:latin typeface="Lato"/>
              <a:ea typeface="Lato"/>
              <a:cs typeface="Lato"/>
              <a:sym typeface="Lato"/>
            </a:endParaRPr>
          </a:p>
          <a:p>
            <a:pPr indent="0" lvl="0" marL="0" rtl="0" algn="l">
              <a:spcBef>
                <a:spcPts val="1200"/>
              </a:spcBef>
              <a:spcAft>
                <a:spcPts val="0"/>
              </a:spcAft>
              <a:buNone/>
            </a:pPr>
            <a:r>
              <a:t/>
            </a:r>
            <a:endParaRPr sz="1000">
              <a:solidFill>
                <a:schemeClr val="accen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type="title"/>
          </p:nvPr>
        </p:nvSpPr>
        <p:spPr>
          <a:xfrm>
            <a:off x="568375"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output</a:t>
            </a:r>
            <a:endParaRPr/>
          </a:p>
        </p:txBody>
      </p:sp>
      <p:sp>
        <p:nvSpPr>
          <p:cNvPr id="206" name="Google Shape;206;p28"/>
          <p:cNvSpPr txBox="1"/>
          <p:nvPr>
            <p:ph idx="1" type="body"/>
          </p:nvPr>
        </p:nvSpPr>
        <p:spPr>
          <a:xfrm>
            <a:off x="230125" y="874500"/>
            <a:ext cx="8722200" cy="4062000"/>
          </a:xfrm>
          <a:prstGeom prst="rect">
            <a:avLst/>
          </a:prstGeom>
        </p:spPr>
        <p:txBody>
          <a:bodyPr anchorCtr="0" anchor="t" bIns="91425" lIns="91425" spcFirstLastPara="1" rIns="91425" wrap="square" tIns="91425">
            <a:noAutofit/>
          </a:bodyPr>
          <a:lstStyle/>
          <a:p>
            <a:pPr indent="0" lvl="0" marL="0" rtl="0" algn="l">
              <a:lnSpc>
                <a:spcPct val="75000"/>
              </a:lnSpc>
              <a:spcBef>
                <a:spcPts val="0"/>
              </a:spcBef>
              <a:spcAft>
                <a:spcPts val="0"/>
              </a:spcAft>
              <a:buSzPts val="852"/>
              <a:buNone/>
            </a:pPr>
            <a:r>
              <a:rPr lang="en" sz="875">
                <a:solidFill>
                  <a:srgbClr val="000000"/>
                </a:solidFill>
              </a:rPr>
              <a:t>Models Evaluated:</a:t>
            </a:r>
            <a:endParaRPr sz="875">
              <a:solidFill>
                <a:srgbClr val="000000"/>
              </a:solidFill>
            </a:endParaRPr>
          </a:p>
          <a:p>
            <a:pPr indent="-284162" lvl="0" marL="457200" rtl="0" algn="l">
              <a:lnSpc>
                <a:spcPct val="95000"/>
              </a:lnSpc>
              <a:spcBef>
                <a:spcPts val="1200"/>
              </a:spcBef>
              <a:spcAft>
                <a:spcPts val="0"/>
              </a:spcAft>
              <a:buClr>
                <a:srgbClr val="000000"/>
              </a:buClr>
              <a:buSzPts val="875"/>
              <a:buFont typeface="Lato"/>
              <a:buChar char="●"/>
            </a:pPr>
            <a:r>
              <a:rPr lang="en" sz="875">
                <a:solidFill>
                  <a:srgbClr val="000000"/>
                </a:solidFill>
              </a:rPr>
              <a:t>Random Forest Regressor</a:t>
            </a:r>
            <a:endParaRPr sz="875">
              <a:solidFill>
                <a:srgbClr val="000000"/>
              </a:solidFill>
            </a:endParaRPr>
          </a:p>
          <a:p>
            <a:pPr indent="-284162" lvl="0" marL="457200" rtl="0" algn="l">
              <a:lnSpc>
                <a:spcPct val="95000"/>
              </a:lnSpc>
              <a:spcBef>
                <a:spcPts val="0"/>
              </a:spcBef>
              <a:spcAft>
                <a:spcPts val="0"/>
              </a:spcAft>
              <a:buClr>
                <a:srgbClr val="000000"/>
              </a:buClr>
              <a:buSzPts val="875"/>
              <a:buFont typeface="Lato"/>
              <a:buChar char="●"/>
            </a:pPr>
            <a:r>
              <a:rPr lang="en" sz="875">
                <a:solidFill>
                  <a:srgbClr val="000000"/>
                </a:solidFill>
              </a:rPr>
              <a:t>Gradient Boosting Regressor</a:t>
            </a:r>
            <a:endParaRPr sz="875">
              <a:solidFill>
                <a:srgbClr val="000000"/>
              </a:solidFill>
            </a:endParaRPr>
          </a:p>
          <a:p>
            <a:pPr indent="0" lvl="0" marL="0" rtl="0" algn="l">
              <a:lnSpc>
                <a:spcPct val="95000"/>
              </a:lnSpc>
              <a:spcBef>
                <a:spcPts val="1200"/>
              </a:spcBef>
              <a:spcAft>
                <a:spcPts val="0"/>
              </a:spcAft>
              <a:buSzPts val="852"/>
              <a:buNone/>
            </a:pPr>
            <a:r>
              <a:rPr lang="en" sz="875">
                <a:solidFill>
                  <a:srgbClr val="000000"/>
                </a:solidFill>
              </a:rPr>
              <a:t>Validation Method:</a:t>
            </a:r>
            <a:endParaRPr sz="875">
              <a:solidFill>
                <a:srgbClr val="000000"/>
              </a:solidFill>
            </a:endParaRPr>
          </a:p>
          <a:p>
            <a:pPr indent="-284162" lvl="0" marL="457200" rtl="0" algn="l">
              <a:lnSpc>
                <a:spcPct val="95000"/>
              </a:lnSpc>
              <a:spcBef>
                <a:spcPts val="1200"/>
              </a:spcBef>
              <a:spcAft>
                <a:spcPts val="0"/>
              </a:spcAft>
              <a:buClr>
                <a:srgbClr val="000000"/>
              </a:buClr>
              <a:buSzPts val="875"/>
              <a:buFont typeface="Lato"/>
              <a:buChar char="●"/>
            </a:pPr>
            <a:r>
              <a:rPr lang="en" sz="875">
                <a:solidFill>
                  <a:srgbClr val="000000"/>
                </a:solidFill>
              </a:rPr>
              <a:t>5-Fold Cross-Validation</a:t>
            </a:r>
            <a:endParaRPr sz="875">
              <a:solidFill>
                <a:srgbClr val="000000"/>
              </a:solidFill>
            </a:endParaRPr>
          </a:p>
          <a:p>
            <a:pPr indent="-284162" lvl="0" marL="457200" rtl="0" algn="l">
              <a:lnSpc>
                <a:spcPct val="95000"/>
              </a:lnSpc>
              <a:spcBef>
                <a:spcPts val="0"/>
              </a:spcBef>
              <a:spcAft>
                <a:spcPts val="0"/>
              </a:spcAft>
              <a:buClr>
                <a:srgbClr val="000000"/>
              </a:buClr>
              <a:buSzPts val="875"/>
              <a:buFont typeface="Lato"/>
              <a:buChar char="●"/>
            </a:pPr>
            <a:r>
              <a:rPr lang="en" sz="875">
                <a:solidFill>
                  <a:srgbClr val="000000"/>
                </a:solidFill>
              </a:rPr>
              <a:t>Hyperparameter Optimization</a:t>
            </a:r>
            <a:endParaRPr sz="875">
              <a:solidFill>
                <a:srgbClr val="000000"/>
              </a:solidFill>
            </a:endParaRPr>
          </a:p>
          <a:p>
            <a:pPr indent="0" lvl="0" marL="0" rtl="0" algn="l">
              <a:lnSpc>
                <a:spcPct val="95000"/>
              </a:lnSpc>
              <a:spcBef>
                <a:spcPts val="1200"/>
              </a:spcBef>
              <a:spcAft>
                <a:spcPts val="0"/>
              </a:spcAft>
              <a:buSzPts val="852"/>
              <a:buNone/>
            </a:pPr>
            <a:r>
              <a:rPr lang="en" sz="875">
                <a:solidFill>
                  <a:srgbClr val="000000"/>
                </a:solidFill>
              </a:rPr>
              <a:t>Best Performing Model:</a:t>
            </a:r>
            <a:endParaRPr sz="875">
              <a:solidFill>
                <a:srgbClr val="000000"/>
              </a:solidFill>
            </a:endParaRPr>
          </a:p>
          <a:p>
            <a:pPr indent="-284162" lvl="0" marL="457200" rtl="0" algn="l">
              <a:lnSpc>
                <a:spcPct val="95000"/>
              </a:lnSpc>
              <a:spcBef>
                <a:spcPts val="1200"/>
              </a:spcBef>
              <a:spcAft>
                <a:spcPts val="0"/>
              </a:spcAft>
              <a:buClr>
                <a:srgbClr val="000000"/>
              </a:buClr>
              <a:buSzPts val="875"/>
              <a:buFont typeface="Arial"/>
              <a:buChar char="●"/>
            </a:pPr>
            <a:r>
              <a:rPr lang="en" sz="875">
                <a:solidFill>
                  <a:srgbClr val="000000"/>
                </a:solidFill>
              </a:rPr>
              <a:t>Gradient Boosting (All Features)</a:t>
            </a:r>
            <a:endParaRPr sz="875">
              <a:solidFill>
                <a:srgbClr val="000000"/>
              </a:solidFill>
            </a:endParaRPr>
          </a:p>
          <a:p>
            <a:pPr indent="0" lvl="0" marL="0" rtl="0" algn="l">
              <a:lnSpc>
                <a:spcPct val="95000"/>
              </a:lnSpc>
              <a:spcBef>
                <a:spcPts val="1200"/>
              </a:spcBef>
              <a:spcAft>
                <a:spcPts val="0"/>
              </a:spcAft>
              <a:buSzPts val="852"/>
              <a:buNone/>
            </a:pPr>
            <a:r>
              <a:rPr lang="en" sz="875">
                <a:solidFill>
                  <a:srgbClr val="000000"/>
                </a:solidFill>
              </a:rPr>
              <a:t>Final Performance:</a:t>
            </a:r>
            <a:endParaRPr sz="875">
              <a:solidFill>
                <a:srgbClr val="000000"/>
              </a:solidFill>
            </a:endParaRPr>
          </a:p>
          <a:p>
            <a:pPr indent="-284162" lvl="0" marL="457200" rtl="0" algn="l">
              <a:lnSpc>
                <a:spcPct val="95000"/>
              </a:lnSpc>
              <a:spcBef>
                <a:spcPts val="1200"/>
              </a:spcBef>
              <a:spcAft>
                <a:spcPts val="0"/>
              </a:spcAft>
              <a:buClr>
                <a:srgbClr val="000000"/>
              </a:buClr>
              <a:buSzPts val="875"/>
              <a:buFont typeface="Lato"/>
              <a:buChar char="●"/>
            </a:pPr>
            <a:r>
              <a:rPr lang="en" sz="875">
                <a:solidFill>
                  <a:srgbClr val="000000"/>
                </a:solidFill>
              </a:rPr>
              <a:t>R² ≈ 0.44</a:t>
            </a:r>
            <a:endParaRPr sz="875">
              <a:solidFill>
                <a:srgbClr val="000000"/>
              </a:solidFill>
            </a:endParaRPr>
          </a:p>
          <a:p>
            <a:pPr indent="-284162" lvl="0" marL="457200" rtl="0" algn="l">
              <a:lnSpc>
                <a:spcPct val="95000"/>
              </a:lnSpc>
              <a:spcBef>
                <a:spcPts val="0"/>
              </a:spcBef>
              <a:spcAft>
                <a:spcPts val="0"/>
              </a:spcAft>
              <a:buClr>
                <a:srgbClr val="000000"/>
              </a:buClr>
              <a:buSzPts val="875"/>
              <a:buFont typeface="Lato"/>
              <a:buChar char="●"/>
            </a:pPr>
            <a:r>
              <a:rPr lang="en" sz="875">
                <a:solidFill>
                  <a:srgbClr val="000000"/>
                </a:solidFill>
              </a:rPr>
              <a:t>RMSE ≈ 0.032</a:t>
            </a:r>
            <a:endParaRPr sz="875">
              <a:solidFill>
                <a:srgbClr val="000000"/>
              </a:solidFill>
            </a:endParaRPr>
          </a:p>
          <a:p>
            <a:pPr indent="-284162" lvl="0" marL="457200" rtl="0" algn="l">
              <a:lnSpc>
                <a:spcPct val="95000"/>
              </a:lnSpc>
              <a:spcBef>
                <a:spcPts val="0"/>
              </a:spcBef>
              <a:spcAft>
                <a:spcPts val="0"/>
              </a:spcAft>
              <a:buClr>
                <a:srgbClr val="000000"/>
              </a:buClr>
              <a:buSzPts val="875"/>
              <a:buFont typeface="Lato"/>
              <a:buChar char="●"/>
            </a:pPr>
            <a:r>
              <a:rPr lang="en" sz="875">
                <a:solidFill>
                  <a:srgbClr val="000000"/>
                </a:solidFill>
              </a:rPr>
              <a:t>NRMSE ≈ 10%</a:t>
            </a:r>
            <a:endParaRPr sz="875">
              <a:solidFill>
                <a:srgbClr val="000000"/>
              </a:solidFill>
            </a:endParaRPr>
          </a:p>
          <a:p>
            <a:pPr indent="0" lvl="0" marL="0" rtl="0" algn="l">
              <a:lnSpc>
                <a:spcPct val="75000"/>
              </a:lnSpc>
              <a:spcBef>
                <a:spcPts val="1200"/>
              </a:spcBef>
              <a:spcAft>
                <a:spcPts val="0"/>
              </a:spcAft>
              <a:buClr>
                <a:srgbClr val="000000"/>
              </a:buClr>
              <a:buSzPts val="277"/>
              <a:buFont typeface="Arial"/>
              <a:buNone/>
            </a:pPr>
            <a:r>
              <a:t/>
            </a:r>
            <a:endParaRPr sz="875"/>
          </a:p>
          <a:p>
            <a:pPr indent="0" lvl="0" marL="0" rtl="0" algn="l">
              <a:lnSpc>
                <a:spcPct val="95000"/>
              </a:lnSpc>
              <a:spcBef>
                <a:spcPts val="1200"/>
              </a:spcBef>
              <a:spcAft>
                <a:spcPts val="0"/>
              </a:spcAft>
              <a:buSzPts val="852"/>
              <a:buNone/>
            </a:pPr>
            <a:r>
              <a:rPr lang="en" sz="850"/>
              <a:t>T</a:t>
            </a:r>
            <a:r>
              <a:rPr lang="en" sz="850">
                <a:solidFill>
                  <a:schemeClr val="dk2"/>
                </a:solidFill>
              </a:rPr>
              <a:t>he model learns:</a:t>
            </a:r>
            <a:endParaRPr sz="850">
              <a:solidFill>
                <a:schemeClr val="dk2"/>
              </a:solidFill>
            </a:endParaRPr>
          </a:p>
          <a:p>
            <a:pPr indent="0" lvl="0" marL="0" rtl="0" algn="l">
              <a:lnSpc>
                <a:spcPct val="95000"/>
              </a:lnSpc>
              <a:spcBef>
                <a:spcPts val="1200"/>
              </a:spcBef>
              <a:spcAft>
                <a:spcPts val="0"/>
              </a:spcAft>
              <a:buSzPts val="852"/>
              <a:buNone/>
            </a:pPr>
            <a:r>
              <a:rPr lang="en" sz="850">
                <a:solidFill>
                  <a:schemeClr val="dk2"/>
                </a:solidFill>
              </a:rPr>
              <a:t>Economic + health + demographic interactions</a:t>
            </a:r>
            <a:endParaRPr sz="850">
              <a:solidFill>
                <a:schemeClr val="dk2"/>
              </a:solidFill>
            </a:endParaRPr>
          </a:p>
          <a:p>
            <a:pPr indent="0" lvl="0" marL="0" rtl="0" algn="l">
              <a:lnSpc>
                <a:spcPct val="95000"/>
              </a:lnSpc>
              <a:spcBef>
                <a:spcPts val="1200"/>
              </a:spcBef>
              <a:spcAft>
                <a:spcPts val="1200"/>
              </a:spcAft>
              <a:buSzPts val="852"/>
              <a:buNone/>
            </a:pPr>
            <a:r>
              <a:rPr lang="en" sz="850">
                <a:solidFill>
                  <a:schemeClr val="dk2"/>
                </a:solidFill>
              </a:rPr>
              <a:t>44% of county-level obesity variance is explained</a:t>
            </a:r>
            <a:endParaRPr sz="850">
              <a:solidFill>
                <a:schemeClr val="dk2"/>
              </a:solidFill>
            </a:endParaRPr>
          </a:p>
        </p:txBody>
      </p:sp>
      <p:pic>
        <p:nvPicPr>
          <p:cNvPr id="207" name="Google Shape;207;p28"/>
          <p:cNvPicPr preferRelativeResize="0"/>
          <p:nvPr/>
        </p:nvPicPr>
        <p:blipFill>
          <a:blip r:embed="rId3">
            <a:alphaModFix/>
          </a:blip>
          <a:stretch>
            <a:fillRect/>
          </a:stretch>
        </p:blipFill>
        <p:spPr>
          <a:xfrm>
            <a:off x="3104162" y="874500"/>
            <a:ext cx="2044725" cy="2365800"/>
          </a:xfrm>
          <a:prstGeom prst="rect">
            <a:avLst/>
          </a:prstGeom>
          <a:noFill/>
          <a:ln>
            <a:noFill/>
          </a:ln>
        </p:spPr>
      </p:pic>
      <p:pic>
        <p:nvPicPr>
          <p:cNvPr id="208" name="Google Shape;208;p28"/>
          <p:cNvPicPr preferRelativeResize="0"/>
          <p:nvPr/>
        </p:nvPicPr>
        <p:blipFill>
          <a:blip r:embed="rId4">
            <a:alphaModFix/>
          </a:blip>
          <a:stretch>
            <a:fillRect/>
          </a:stretch>
        </p:blipFill>
        <p:spPr>
          <a:xfrm>
            <a:off x="2338650" y="3486928"/>
            <a:ext cx="3161898" cy="341650"/>
          </a:xfrm>
          <a:prstGeom prst="rect">
            <a:avLst/>
          </a:prstGeom>
          <a:noFill/>
          <a:ln>
            <a:noFill/>
          </a:ln>
        </p:spPr>
      </p:pic>
      <p:pic>
        <p:nvPicPr>
          <p:cNvPr id="209" name="Google Shape;209;p28"/>
          <p:cNvPicPr preferRelativeResize="0"/>
          <p:nvPr/>
        </p:nvPicPr>
        <p:blipFill>
          <a:blip r:embed="rId5">
            <a:alphaModFix/>
          </a:blip>
          <a:stretch>
            <a:fillRect/>
          </a:stretch>
        </p:blipFill>
        <p:spPr>
          <a:xfrm>
            <a:off x="5606175" y="843577"/>
            <a:ext cx="1583187" cy="2849726"/>
          </a:xfrm>
          <a:prstGeom prst="rect">
            <a:avLst/>
          </a:prstGeom>
          <a:noFill/>
          <a:ln>
            <a:noFill/>
          </a:ln>
        </p:spPr>
      </p:pic>
      <p:pic>
        <p:nvPicPr>
          <p:cNvPr id="210" name="Google Shape;210;p28"/>
          <p:cNvPicPr preferRelativeResize="0"/>
          <p:nvPr/>
        </p:nvPicPr>
        <p:blipFill>
          <a:blip r:embed="rId6">
            <a:alphaModFix/>
          </a:blip>
          <a:stretch>
            <a:fillRect/>
          </a:stretch>
        </p:blipFill>
        <p:spPr>
          <a:xfrm>
            <a:off x="7377425" y="766600"/>
            <a:ext cx="1583175" cy="28497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475975" y="93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explainability using SHAP</a:t>
            </a:r>
            <a:endParaRPr/>
          </a:p>
        </p:txBody>
      </p:sp>
      <p:sp>
        <p:nvSpPr>
          <p:cNvPr id="216" name="Google Shape;216;p29"/>
          <p:cNvSpPr txBox="1"/>
          <p:nvPr>
            <p:ph idx="1" type="body"/>
          </p:nvPr>
        </p:nvSpPr>
        <p:spPr>
          <a:xfrm>
            <a:off x="190800" y="695325"/>
            <a:ext cx="7688700" cy="418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950">
                <a:solidFill>
                  <a:schemeClr val="dk2"/>
                </a:solidFill>
              </a:rPr>
              <a:t>Physical inactivity is the dominant driver</a:t>
            </a:r>
            <a:endParaRPr sz="950">
              <a:solidFill>
                <a:schemeClr val="dk2"/>
              </a:solidFill>
            </a:endParaRPr>
          </a:p>
          <a:p>
            <a:pPr indent="0" lvl="0" marL="0" rtl="0" algn="l">
              <a:spcBef>
                <a:spcPts val="1200"/>
              </a:spcBef>
              <a:spcAft>
                <a:spcPts val="0"/>
              </a:spcAft>
              <a:buNone/>
            </a:pPr>
            <a:r>
              <a:t/>
            </a:r>
            <a:endParaRPr sz="950">
              <a:solidFill>
                <a:schemeClr val="dk2"/>
              </a:solidFill>
            </a:endParaRPr>
          </a:p>
          <a:p>
            <a:pPr indent="0" lvl="0" marL="0" rtl="0" algn="l">
              <a:spcBef>
                <a:spcPts val="1200"/>
              </a:spcBef>
              <a:spcAft>
                <a:spcPts val="0"/>
              </a:spcAft>
              <a:buNone/>
            </a:pPr>
            <a:r>
              <a:rPr lang="en" sz="950">
                <a:solidFill>
                  <a:schemeClr val="dk2"/>
                </a:solidFill>
              </a:rPr>
              <a:t>But its impact is strongly moderated by income</a:t>
            </a:r>
            <a:br>
              <a:rPr lang="en" sz="950">
                <a:solidFill>
                  <a:schemeClr val="dk2"/>
                </a:solidFill>
              </a:rPr>
            </a:br>
            <a:r>
              <a:rPr lang="en" sz="950">
                <a:solidFill>
                  <a:schemeClr val="dk2"/>
                </a:solidFill>
              </a:rPr>
              <a:t>Poverty and race do not act alone — they interact</a:t>
            </a:r>
            <a:endParaRPr sz="950">
              <a:solidFill>
                <a:schemeClr val="dk2"/>
              </a:solidFill>
            </a:endParaRPr>
          </a:p>
          <a:p>
            <a:pPr indent="0" lvl="0" marL="0" rtl="0" algn="l">
              <a:spcBef>
                <a:spcPts val="1200"/>
              </a:spcBef>
              <a:spcAft>
                <a:spcPts val="0"/>
              </a:spcAft>
              <a:buNone/>
            </a:pPr>
            <a:r>
              <a:rPr lang="en" sz="950">
                <a:solidFill>
                  <a:schemeClr val="dk2"/>
                </a:solidFill>
              </a:rPr>
              <a:t>This confirms compound disadvantage:</a:t>
            </a:r>
            <a:endParaRPr sz="950">
              <a:solidFill>
                <a:schemeClr val="dk2"/>
              </a:solidFill>
            </a:endParaRPr>
          </a:p>
          <a:p>
            <a:pPr indent="-288925" lvl="0" marL="457200" rtl="0" algn="l">
              <a:lnSpc>
                <a:spcPct val="95000"/>
              </a:lnSpc>
              <a:spcBef>
                <a:spcPts val="1200"/>
              </a:spcBef>
              <a:spcAft>
                <a:spcPts val="0"/>
              </a:spcAft>
              <a:buClr>
                <a:schemeClr val="dk2"/>
              </a:buClr>
              <a:buSzPts val="950"/>
              <a:buFont typeface="Lato"/>
              <a:buChar char="●"/>
            </a:pPr>
            <a:r>
              <a:rPr lang="en" sz="950">
                <a:solidFill>
                  <a:schemeClr val="dk2"/>
                </a:solidFill>
              </a:rPr>
              <a:t>SHAP used for:</a:t>
            </a:r>
            <a:br>
              <a:rPr lang="en" sz="950">
                <a:solidFill>
                  <a:schemeClr val="dk2"/>
                </a:solidFill>
              </a:rPr>
            </a:br>
            <a:endParaRPr sz="950">
              <a:solidFill>
                <a:schemeClr val="dk2"/>
              </a:solidFill>
            </a:endParaRPr>
          </a:p>
          <a:p>
            <a:pPr indent="-288925" lvl="1" marL="914400" rtl="0" algn="l">
              <a:lnSpc>
                <a:spcPct val="95000"/>
              </a:lnSpc>
              <a:spcBef>
                <a:spcPts val="0"/>
              </a:spcBef>
              <a:spcAft>
                <a:spcPts val="0"/>
              </a:spcAft>
              <a:buClr>
                <a:schemeClr val="dk2"/>
              </a:buClr>
              <a:buSzPts val="950"/>
              <a:buFont typeface="Lato"/>
              <a:buChar char="○"/>
            </a:pPr>
            <a:r>
              <a:rPr lang="en" sz="950">
                <a:solidFill>
                  <a:schemeClr val="dk2"/>
                </a:solidFill>
              </a:rPr>
              <a:t>Global feature importance</a:t>
            </a:r>
            <a:br>
              <a:rPr lang="en" sz="950">
                <a:solidFill>
                  <a:schemeClr val="dk2"/>
                </a:solidFill>
              </a:rPr>
            </a:br>
            <a:endParaRPr sz="950">
              <a:solidFill>
                <a:schemeClr val="dk2"/>
              </a:solidFill>
            </a:endParaRPr>
          </a:p>
          <a:p>
            <a:pPr indent="-288925" lvl="1" marL="914400" rtl="0" algn="l">
              <a:lnSpc>
                <a:spcPct val="95000"/>
              </a:lnSpc>
              <a:spcBef>
                <a:spcPts val="0"/>
              </a:spcBef>
              <a:spcAft>
                <a:spcPts val="0"/>
              </a:spcAft>
              <a:buClr>
                <a:schemeClr val="dk2"/>
              </a:buClr>
              <a:buSzPts val="950"/>
              <a:buFont typeface="Lato"/>
              <a:buChar char="○"/>
            </a:pPr>
            <a:r>
              <a:rPr lang="en" sz="950">
                <a:solidFill>
                  <a:schemeClr val="dk2"/>
                </a:solidFill>
              </a:rPr>
              <a:t>Direction of feature influence</a:t>
            </a:r>
            <a:br>
              <a:rPr lang="en" sz="950">
                <a:solidFill>
                  <a:schemeClr val="dk2"/>
                </a:solidFill>
              </a:rPr>
            </a:br>
            <a:endParaRPr sz="950">
              <a:solidFill>
                <a:schemeClr val="dk2"/>
              </a:solidFill>
            </a:endParaRPr>
          </a:p>
          <a:p>
            <a:pPr indent="-288925" lvl="0" marL="457200" rtl="0" algn="l">
              <a:lnSpc>
                <a:spcPct val="95000"/>
              </a:lnSpc>
              <a:spcBef>
                <a:spcPts val="0"/>
              </a:spcBef>
              <a:spcAft>
                <a:spcPts val="0"/>
              </a:spcAft>
              <a:buClr>
                <a:schemeClr val="dk2"/>
              </a:buClr>
              <a:buSzPts val="950"/>
              <a:buFont typeface="Lato"/>
              <a:buChar char="●"/>
            </a:pPr>
            <a:r>
              <a:rPr lang="en" sz="950">
                <a:solidFill>
                  <a:schemeClr val="dk2"/>
                </a:solidFill>
              </a:rPr>
              <a:t>Top Drivers Identified:</a:t>
            </a:r>
            <a:br>
              <a:rPr lang="en" sz="950">
                <a:solidFill>
                  <a:schemeClr val="dk2"/>
                </a:solidFill>
              </a:rPr>
            </a:br>
            <a:endParaRPr sz="950">
              <a:solidFill>
                <a:schemeClr val="dk2"/>
              </a:solidFill>
            </a:endParaRPr>
          </a:p>
          <a:p>
            <a:pPr indent="-288925" lvl="1" marL="914400" rtl="0" algn="l">
              <a:lnSpc>
                <a:spcPct val="95000"/>
              </a:lnSpc>
              <a:spcBef>
                <a:spcPts val="0"/>
              </a:spcBef>
              <a:spcAft>
                <a:spcPts val="0"/>
              </a:spcAft>
              <a:buClr>
                <a:schemeClr val="dk2"/>
              </a:buClr>
              <a:buSzPts val="950"/>
              <a:buFont typeface="Lato"/>
              <a:buChar char="○"/>
            </a:pPr>
            <a:r>
              <a:rPr lang="en" sz="950">
                <a:solidFill>
                  <a:schemeClr val="dk2"/>
                </a:solidFill>
              </a:rPr>
              <a:t>Physical inactivity (strongest)</a:t>
            </a:r>
            <a:br>
              <a:rPr lang="en" sz="950">
                <a:solidFill>
                  <a:schemeClr val="dk2"/>
                </a:solidFill>
              </a:rPr>
            </a:br>
            <a:endParaRPr sz="950">
              <a:solidFill>
                <a:schemeClr val="dk2"/>
              </a:solidFill>
            </a:endParaRPr>
          </a:p>
          <a:p>
            <a:pPr indent="-288925" lvl="1" marL="914400" rtl="0" algn="l">
              <a:lnSpc>
                <a:spcPct val="95000"/>
              </a:lnSpc>
              <a:spcBef>
                <a:spcPts val="0"/>
              </a:spcBef>
              <a:spcAft>
                <a:spcPts val="0"/>
              </a:spcAft>
              <a:buClr>
                <a:schemeClr val="dk2"/>
              </a:buClr>
              <a:buSzPts val="950"/>
              <a:buFont typeface="Lato"/>
              <a:buChar char="○"/>
            </a:pPr>
            <a:r>
              <a:rPr lang="en" sz="950">
                <a:solidFill>
                  <a:schemeClr val="dk2"/>
                </a:solidFill>
              </a:rPr>
              <a:t>Median household income</a:t>
            </a:r>
            <a:br>
              <a:rPr lang="en" sz="950">
                <a:solidFill>
                  <a:schemeClr val="dk2"/>
                </a:solidFill>
              </a:rPr>
            </a:br>
            <a:endParaRPr sz="950">
              <a:solidFill>
                <a:schemeClr val="dk2"/>
              </a:solidFill>
            </a:endParaRPr>
          </a:p>
          <a:p>
            <a:pPr indent="-288925" lvl="1" marL="914400" rtl="0" algn="l">
              <a:lnSpc>
                <a:spcPct val="95000"/>
              </a:lnSpc>
              <a:spcBef>
                <a:spcPts val="0"/>
              </a:spcBef>
              <a:spcAft>
                <a:spcPts val="0"/>
              </a:spcAft>
              <a:buClr>
                <a:schemeClr val="dk2"/>
              </a:buClr>
              <a:buSzPts val="950"/>
              <a:buFont typeface="Lato"/>
              <a:buChar char="○"/>
            </a:pPr>
            <a:r>
              <a:rPr lang="en" sz="950">
                <a:solidFill>
                  <a:schemeClr val="dk2"/>
                </a:solidFill>
              </a:rPr>
              <a:t>Low access to food</a:t>
            </a:r>
            <a:br>
              <a:rPr lang="en" sz="950">
                <a:solidFill>
                  <a:schemeClr val="dk2"/>
                </a:solidFill>
              </a:rPr>
            </a:br>
            <a:endParaRPr sz="950">
              <a:solidFill>
                <a:schemeClr val="dk2"/>
              </a:solidFill>
            </a:endParaRPr>
          </a:p>
          <a:p>
            <a:pPr indent="-288925" lvl="0" marL="457200" rtl="0" algn="l">
              <a:lnSpc>
                <a:spcPct val="95000"/>
              </a:lnSpc>
              <a:spcBef>
                <a:spcPts val="0"/>
              </a:spcBef>
              <a:spcAft>
                <a:spcPts val="0"/>
              </a:spcAft>
              <a:buClr>
                <a:schemeClr val="dk2"/>
              </a:buClr>
              <a:buSzPts val="950"/>
              <a:buFont typeface="Lato"/>
              <a:buChar char="●"/>
            </a:pPr>
            <a:r>
              <a:rPr lang="en" sz="950">
                <a:solidFill>
                  <a:schemeClr val="dk2"/>
                </a:solidFill>
              </a:rPr>
              <a:t>Economic and demographic features:</a:t>
            </a:r>
            <a:br>
              <a:rPr lang="en" sz="950">
                <a:solidFill>
                  <a:schemeClr val="dk2"/>
                </a:solidFill>
              </a:rPr>
            </a:br>
            <a:endParaRPr sz="950">
              <a:solidFill>
                <a:schemeClr val="dk2"/>
              </a:solidFill>
            </a:endParaRPr>
          </a:p>
          <a:p>
            <a:pPr indent="-288925" lvl="1" marL="914400" rtl="0" algn="l">
              <a:lnSpc>
                <a:spcPct val="95000"/>
              </a:lnSpc>
              <a:spcBef>
                <a:spcPts val="0"/>
              </a:spcBef>
              <a:spcAft>
                <a:spcPts val="0"/>
              </a:spcAft>
              <a:buClr>
                <a:schemeClr val="dk2"/>
              </a:buClr>
              <a:buSzPts val="950"/>
              <a:buFont typeface="Lato"/>
              <a:buChar char="○"/>
            </a:pPr>
            <a:r>
              <a:rPr lang="en" sz="950">
                <a:solidFill>
                  <a:schemeClr val="dk2"/>
                </a:solidFill>
              </a:rPr>
              <a:t>Secondary influence</a:t>
            </a:r>
            <a:endParaRPr sz="950">
              <a:solidFill>
                <a:schemeClr val="dk2"/>
              </a:solidFill>
            </a:endParaRPr>
          </a:p>
        </p:txBody>
      </p:sp>
      <p:pic>
        <p:nvPicPr>
          <p:cNvPr id="217" name="Google Shape;217;p29"/>
          <p:cNvPicPr preferRelativeResize="0"/>
          <p:nvPr/>
        </p:nvPicPr>
        <p:blipFill>
          <a:blip r:embed="rId3">
            <a:alphaModFix/>
          </a:blip>
          <a:stretch>
            <a:fillRect/>
          </a:stretch>
        </p:blipFill>
        <p:spPr>
          <a:xfrm>
            <a:off x="4679875" y="1182925"/>
            <a:ext cx="4464126" cy="3094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3" name="Google Shape;223;p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4" name="Google Shape;224;p30"/>
          <p:cNvPicPr preferRelativeResize="0"/>
          <p:nvPr/>
        </p:nvPicPr>
        <p:blipFill>
          <a:blip r:embed="rId3">
            <a:alphaModFix/>
          </a:blip>
          <a:stretch>
            <a:fillRect/>
          </a:stretch>
        </p:blipFill>
        <p:spPr>
          <a:xfrm>
            <a:off x="105625" y="1013925"/>
            <a:ext cx="4398024" cy="3495870"/>
          </a:xfrm>
          <a:prstGeom prst="rect">
            <a:avLst/>
          </a:prstGeom>
          <a:noFill/>
          <a:ln>
            <a:noFill/>
          </a:ln>
        </p:spPr>
      </p:pic>
      <p:pic>
        <p:nvPicPr>
          <p:cNvPr id="225" name="Google Shape;225;p30"/>
          <p:cNvPicPr preferRelativeResize="0"/>
          <p:nvPr/>
        </p:nvPicPr>
        <p:blipFill>
          <a:blip r:embed="rId4">
            <a:alphaModFix/>
          </a:blip>
          <a:stretch>
            <a:fillRect/>
          </a:stretch>
        </p:blipFill>
        <p:spPr>
          <a:xfrm>
            <a:off x="5386425" y="0"/>
            <a:ext cx="3325150" cy="2261100"/>
          </a:xfrm>
          <a:prstGeom prst="rect">
            <a:avLst/>
          </a:prstGeom>
          <a:noFill/>
          <a:ln>
            <a:noFill/>
          </a:ln>
        </p:spPr>
      </p:pic>
      <p:pic>
        <p:nvPicPr>
          <p:cNvPr id="226" name="Google Shape;226;p30"/>
          <p:cNvPicPr preferRelativeResize="0"/>
          <p:nvPr/>
        </p:nvPicPr>
        <p:blipFill>
          <a:blip r:embed="rId5">
            <a:alphaModFix/>
          </a:blip>
          <a:stretch>
            <a:fillRect/>
          </a:stretch>
        </p:blipFill>
        <p:spPr>
          <a:xfrm>
            <a:off x="5100075" y="2268975"/>
            <a:ext cx="3739976" cy="2826025"/>
          </a:xfrm>
          <a:prstGeom prst="rect">
            <a:avLst/>
          </a:prstGeom>
          <a:noFill/>
          <a:ln>
            <a:noFill/>
          </a:ln>
        </p:spPr>
      </p:pic>
      <p:sp>
        <p:nvSpPr>
          <p:cNvPr id="227" name="Google Shape;227;p30"/>
          <p:cNvSpPr txBox="1"/>
          <p:nvPr/>
        </p:nvSpPr>
        <p:spPr>
          <a:xfrm>
            <a:off x="485825" y="95025"/>
            <a:ext cx="415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Lato"/>
                <a:ea typeface="Lato"/>
                <a:cs typeface="Lato"/>
                <a:sym typeface="Lato"/>
              </a:rPr>
              <a:t>Interaction Result</a:t>
            </a:r>
            <a:endParaRPr b="1" sz="1800">
              <a:solidFill>
                <a:schemeClr val="dk2"/>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Casual Modeling</a:t>
            </a:r>
            <a:endParaRPr/>
          </a:p>
        </p:txBody>
      </p:sp>
      <p:sp>
        <p:nvSpPr>
          <p:cNvPr id="233" name="Google Shape;233;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4" name="Google Shape;234;p31"/>
          <p:cNvPicPr preferRelativeResize="0"/>
          <p:nvPr/>
        </p:nvPicPr>
        <p:blipFill>
          <a:blip r:embed="rId3">
            <a:alphaModFix/>
          </a:blip>
          <a:stretch>
            <a:fillRect/>
          </a:stretch>
        </p:blipFill>
        <p:spPr>
          <a:xfrm>
            <a:off x="0" y="2168684"/>
            <a:ext cx="9144000" cy="171048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Diagnostic </a:t>
            </a:r>
            <a:endParaRPr/>
          </a:p>
        </p:txBody>
      </p:sp>
      <p:sp>
        <p:nvSpPr>
          <p:cNvPr id="240" name="Google Shape;240;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1" name="Google Shape;241;p32"/>
          <p:cNvPicPr preferRelativeResize="0"/>
          <p:nvPr/>
        </p:nvPicPr>
        <p:blipFill>
          <a:blip r:embed="rId3">
            <a:alphaModFix/>
          </a:blip>
          <a:stretch>
            <a:fillRect/>
          </a:stretch>
        </p:blipFill>
        <p:spPr>
          <a:xfrm>
            <a:off x="546025" y="1853850"/>
            <a:ext cx="3077873" cy="3046776"/>
          </a:xfrm>
          <a:prstGeom prst="rect">
            <a:avLst/>
          </a:prstGeom>
          <a:noFill/>
          <a:ln>
            <a:noFill/>
          </a:ln>
        </p:spPr>
      </p:pic>
      <p:pic>
        <p:nvPicPr>
          <p:cNvPr id="242" name="Google Shape;242;p32"/>
          <p:cNvPicPr preferRelativeResize="0"/>
          <p:nvPr/>
        </p:nvPicPr>
        <p:blipFill>
          <a:blip r:embed="rId4">
            <a:alphaModFix/>
          </a:blip>
          <a:stretch>
            <a:fillRect/>
          </a:stretch>
        </p:blipFill>
        <p:spPr>
          <a:xfrm>
            <a:off x="4020275" y="1730060"/>
            <a:ext cx="4185900" cy="2958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8" name="Google Shape;248;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9" name="Google Shape;249;p33"/>
          <p:cNvPicPr preferRelativeResize="0"/>
          <p:nvPr/>
        </p:nvPicPr>
        <p:blipFill>
          <a:blip r:embed="rId3">
            <a:alphaModFix/>
          </a:blip>
          <a:stretch>
            <a:fillRect/>
          </a:stretch>
        </p:blipFill>
        <p:spPr>
          <a:xfrm>
            <a:off x="561080" y="0"/>
            <a:ext cx="8021840"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612025"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CLUSTERING (2010–2023 STRUCTURAL RISK)</a:t>
            </a:r>
            <a:endParaRPr/>
          </a:p>
        </p:txBody>
      </p:sp>
      <p:sp>
        <p:nvSpPr>
          <p:cNvPr id="255" name="Google Shape;255;p34"/>
          <p:cNvSpPr txBox="1"/>
          <p:nvPr>
            <p:ph idx="1" type="body"/>
          </p:nvPr>
        </p:nvSpPr>
        <p:spPr>
          <a:xfrm>
            <a:off x="152650" y="904225"/>
            <a:ext cx="8265600" cy="4145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lang="en" sz="1200">
                <a:solidFill>
                  <a:srgbClr val="000000"/>
                </a:solidFill>
                <a:latin typeface="Arial"/>
                <a:ea typeface="Arial"/>
                <a:cs typeface="Arial"/>
                <a:sym typeface="Arial"/>
              </a:rPr>
              <a:t>Structural County Risk (Long-Term Vulnerability)</a:t>
            </a:r>
            <a:endParaRPr sz="1200">
              <a:solidFill>
                <a:srgbClr val="000000"/>
              </a:solidFill>
              <a:latin typeface="Arial"/>
              <a:ea typeface="Arial"/>
              <a:cs typeface="Arial"/>
              <a:sym typeface="Arial"/>
            </a:endParaRPr>
          </a:p>
          <a:p>
            <a:pPr indent="0" lvl="0" marL="0" rtl="0" algn="l">
              <a:lnSpc>
                <a:spcPct val="95000"/>
              </a:lnSpc>
              <a:spcBef>
                <a:spcPts val="1200"/>
              </a:spcBef>
              <a:spcAft>
                <a:spcPts val="0"/>
              </a:spcAft>
              <a:buNone/>
            </a:pPr>
            <a:r>
              <a:rPr lang="en" sz="1200">
                <a:solidFill>
                  <a:srgbClr val="000000"/>
                </a:solidFill>
                <a:latin typeface="Arial"/>
                <a:ea typeface="Arial"/>
                <a:cs typeface="Arial"/>
                <a:sym typeface="Arial"/>
              </a:rPr>
              <a:t>We aggregated 14 years of data (2010–2023) for each county:</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Obesity rate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Poverty rate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Physical inactivity</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Median household income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Unemployment rate</a:t>
            </a:r>
            <a:endParaRPr sz="1200">
              <a:solidFill>
                <a:srgbClr val="000000"/>
              </a:solidFill>
              <a:latin typeface="Arial"/>
              <a:ea typeface="Arial"/>
              <a:cs typeface="Arial"/>
              <a:sym typeface="Arial"/>
            </a:endParaRPr>
          </a:p>
          <a:p>
            <a:pPr indent="0" lvl="0" marL="0" rtl="0" algn="l">
              <a:lnSpc>
                <a:spcPct val="95000"/>
              </a:lnSpc>
              <a:spcBef>
                <a:spcPts val="1200"/>
              </a:spcBef>
              <a:spcAft>
                <a:spcPts val="0"/>
              </a:spcAft>
              <a:buNone/>
            </a:pPr>
            <a:r>
              <a:rPr lang="en" sz="1200">
                <a:solidFill>
                  <a:srgbClr val="000000"/>
                </a:solidFill>
                <a:latin typeface="Arial"/>
                <a:ea typeface="Arial"/>
                <a:cs typeface="Arial"/>
                <a:sym typeface="Arial"/>
              </a:rPr>
              <a:t>We applied multi-algorithm clustering with internal validation:</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UMAP + KMeans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PCA + KMeans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Agglomerative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DBSCAN</a:t>
            </a:r>
            <a:endParaRPr sz="1200">
              <a:solidFill>
                <a:srgbClr val="000000"/>
              </a:solidFill>
              <a:latin typeface="Arial"/>
              <a:ea typeface="Arial"/>
              <a:cs typeface="Arial"/>
              <a:sym typeface="Arial"/>
            </a:endParaRPr>
          </a:p>
          <a:p>
            <a:pPr indent="0" lvl="0" marL="0" rtl="0" algn="l">
              <a:lnSpc>
                <a:spcPct val="95000"/>
              </a:lnSpc>
              <a:spcBef>
                <a:spcPts val="1200"/>
              </a:spcBef>
              <a:spcAft>
                <a:spcPts val="0"/>
              </a:spcAft>
              <a:buNone/>
            </a:pPr>
            <a:r>
              <a:rPr lang="en" sz="1200">
                <a:solidFill>
                  <a:srgbClr val="000000"/>
                </a:solidFill>
                <a:latin typeface="Arial"/>
                <a:ea typeface="Arial"/>
                <a:cs typeface="Arial"/>
                <a:sym typeface="Arial"/>
              </a:rPr>
              <a:t>Best model selected using Silhouette, Davies–Bouldin, and Calinski–Harabasz scores(0.295689, 1.232795,1648.938136)</a:t>
            </a:r>
            <a:endParaRPr sz="1200">
              <a:solidFill>
                <a:srgbClr val="000000"/>
              </a:solidFill>
              <a:latin typeface="Arial"/>
              <a:ea typeface="Arial"/>
              <a:cs typeface="Arial"/>
              <a:sym typeface="Arial"/>
            </a:endParaRPr>
          </a:p>
          <a:p>
            <a:pPr indent="0" lvl="0" marL="0" rtl="0" algn="l">
              <a:lnSpc>
                <a:spcPct val="95000"/>
              </a:lnSpc>
              <a:spcBef>
                <a:spcPts val="1200"/>
              </a:spcBef>
              <a:spcAft>
                <a:spcPts val="0"/>
              </a:spcAft>
              <a:buNone/>
            </a:pPr>
            <a:r>
              <a:rPr lang="en" sz="1200">
                <a:solidFill>
                  <a:srgbClr val="000000"/>
                </a:solidFill>
                <a:latin typeface="Arial"/>
                <a:ea typeface="Arial"/>
                <a:cs typeface="Arial"/>
                <a:sym typeface="Arial"/>
              </a:rPr>
              <a:t>Outcome: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Counties are grouped into </a:t>
            </a:r>
            <a:r>
              <a:rPr b="1" lang="en" sz="1200">
                <a:solidFill>
                  <a:srgbClr val="000000"/>
                </a:solidFill>
                <a:latin typeface="Arial"/>
                <a:ea typeface="Arial"/>
                <a:cs typeface="Arial"/>
                <a:sym typeface="Arial"/>
              </a:rPr>
              <a:t>structural risk types</a:t>
            </a:r>
            <a:r>
              <a:rPr lang="en" sz="1200">
                <a:solidFill>
                  <a:srgbClr val="000000"/>
                </a:solidFill>
                <a:latin typeface="Arial"/>
                <a:ea typeface="Arial"/>
                <a:cs typeface="Arial"/>
                <a:sym typeface="Arial"/>
              </a:rPr>
              <a:t>:</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Persistently high obesity &amp; low SES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Moderate risk with mixed socioeconomic conditions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Lower-risk, higher-resource counties</a:t>
            </a:r>
            <a:endParaRPr sz="1200">
              <a:solidFill>
                <a:srgbClr val="000000"/>
              </a:solidFill>
              <a:latin typeface="Arial"/>
              <a:ea typeface="Arial"/>
              <a:cs typeface="Arial"/>
              <a:sym typeface="Arial"/>
            </a:endParaRPr>
          </a:p>
          <a:p>
            <a:pPr indent="0" lvl="0" marL="0" rtl="0" algn="l">
              <a:lnSpc>
                <a:spcPct val="95000"/>
              </a:lnSpc>
              <a:spcBef>
                <a:spcPts val="1200"/>
              </a:spcBef>
              <a:spcAft>
                <a:spcPts val="1200"/>
              </a:spcAft>
              <a:buNone/>
            </a:pPr>
            <a:r>
              <a:t/>
            </a:r>
            <a:endParaRPr sz="1400"/>
          </a:p>
        </p:txBody>
      </p:sp>
      <p:pic>
        <p:nvPicPr>
          <p:cNvPr id="256" name="Google Shape;256;p34"/>
          <p:cNvPicPr preferRelativeResize="0"/>
          <p:nvPr/>
        </p:nvPicPr>
        <p:blipFill>
          <a:blip r:embed="rId3">
            <a:alphaModFix/>
          </a:blip>
          <a:stretch>
            <a:fillRect/>
          </a:stretch>
        </p:blipFill>
        <p:spPr>
          <a:xfrm>
            <a:off x="5016681" y="535200"/>
            <a:ext cx="3284050" cy="2689175"/>
          </a:xfrm>
          <a:prstGeom prst="rect">
            <a:avLst/>
          </a:prstGeom>
          <a:noFill/>
          <a:ln>
            <a:noFill/>
          </a:ln>
        </p:spPr>
      </p:pic>
      <p:pic>
        <p:nvPicPr>
          <p:cNvPr id="257" name="Google Shape;257;p34"/>
          <p:cNvPicPr preferRelativeResize="0"/>
          <p:nvPr/>
        </p:nvPicPr>
        <p:blipFill>
          <a:blip r:embed="rId4">
            <a:alphaModFix/>
          </a:blip>
          <a:stretch>
            <a:fillRect/>
          </a:stretch>
        </p:blipFill>
        <p:spPr>
          <a:xfrm>
            <a:off x="4286450" y="3997626"/>
            <a:ext cx="4744498" cy="603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3" name="Google Shape;263;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4" name="Google Shape;264;p35"/>
          <p:cNvPicPr preferRelativeResize="0"/>
          <p:nvPr/>
        </p:nvPicPr>
        <p:blipFill>
          <a:blip r:embed="rId3">
            <a:alphaModFix/>
          </a:blip>
          <a:stretch>
            <a:fillRect/>
          </a:stretch>
        </p:blipFill>
        <p:spPr>
          <a:xfrm>
            <a:off x="3496200" y="1150073"/>
            <a:ext cx="5906652" cy="3251800"/>
          </a:xfrm>
          <a:prstGeom prst="rect">
            <a:avLst/>
          </a:prstGeom>
          <a:noFill/>
          <a:ln>
            <a:noFill/>
          </a:ln>
        </p:spPr>
      </p:pic>
      <p:pic>
        <p:nvPicPr>
          <p:cNvPr id="265" name="Google Shape;265;p35"/>
          <p:cNvPicPr preferRelativeResize="0"/>
          <p:nvPr/>
        </p:nvPicPr>
        <p:blipFill>
          <a:blip r:embed="rId4">
            <a:alphaModFix/>
          </a:blip>
          <a:stretch>
            <a:fillRect/>
          </a:stretch>
        </p:blipFill>
        <p:spPr>
          <a:xfrm>
            <a:off x="-69750" y="1509925"/>
            <a:ext cx="4562964" cy="2891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1" name="Google Shape;271;p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2" name="Google Shape;272;p36"/>
          <p:cNvPicPr preferRelativeResize="0"/>
          <p:nvPr/>
        </p:nvPicPr>
        <p:blipFill>
          <a:blip r:embed="rId3">
            <a:alphaModFix/>
          </a:blip>
          <a:stretch>
            <a:fillRect/>
          </a:stretch>
        </p:blipFill>
        <p:spPr>
          <a:xfrm>
            <a:off x="871640" y="0"/>
            <a:ext cx="7400718" cy="51434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FORECASTING + EARLY WARNING</a:t>
            </a:r>
            <a:endParaRPr/>
          </a:p>
        </p:txBody>
      </p:sp>
      <p:sp>
        <p:nvSpPr>
          <p:cNvPr id="278" name="Google Shape;278;p37"/>
          <p:cNvSpPr txBox="1"/>
          <p:nvPr>
            <p:ph idx="1" type="body"/>
          </p:nvPr>
        </p:nvSpPr>
        <p:spPr>
          <a:xfrm>
            <a:off x="105700" y="634125"/>
            <a:ext cx="9038400" cy="44508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None/>
            </a:pPr>
            <a:r>
              <a:rPr lang="en" sz="1200">
                <a:solidFill>
                  <a:srgbClr val="000000"/>
                </a:solidFill>
                <a:latin typeface="Arial"/>
                <a:ea typeface="Arial"/>
                <a:cs typeface="Arial"/>
                <a:sym typeface="Arial"/>
              </a:rPr>
              <a:t>Early-Warning Forecasting (Near-Term System Failure Detection)</a:t>
            </a:r>
            <a:endParaRPr sz="1200">
              <a:solidFill>
                <a:srgbClr val="000000"/>
              </a:solidFill>
              <a:latin typeface="Arial"/>
              <a:ea typeface="Arial"/>
              <a:cs typeface="Arial"/>
              <a:sym typeface="Arial"/>
            </a:endParaRPr>
          </a:p>
          <a:p>
            <a:pPr indent="0" lvl="0" marL="0" rtl="0" algn="l">
              <a:lnSpc>
                <a:spcPct val="105000"/>
              </a:lnSpc>
              <a:spcBef>
                <a:spcPts val="1200"/>
              </a:spcBef>
              <a:spcAft>
                <a:spcPts val="0"/>
              </a:spcAft>
              <a:buNone/>
            </a:pPr>
            <a:r>
              <a:t/>
            </a:r>
            <a:endParaRPr sz="1200">
              <a:solidFill>
                <a:srgbClr val="000000"/>
              </a:solidFill>
              <a:latin typeface="Arial"/>
              <a:ea typeface="Arial"/>
              <a:cs typeface="Arial"/>
              <a:sym typeface="Arial"/>
            </a:endParaRPr>
          </a:p>
          <a:p>
            <a:pPr indent="0" lvl="0" marL="0" rtl="0" algn="l">
              <a:lnSpc>
                <a:spcPct val="105000"/>
              </a:lnSpc>
              <a:spcBef>
                <a:spcPts val="1200"/>
              </a:spcBef>
              <a:spcAft>
                <a:spcPts val="0"/>
              </a:spcAft>
              <a:buNone/>
            </a:pPr>
            <a:r>
              <a:rPr lang="en" sz="1200">
                <a:solidFill>
                  <a:srgbClr val="000000"/>
                </a:solidFill>
                <a:latin typeface="Arial"/>
                <a:ea typeface="Arial"/>
                <a:cs typeface="Arial"/>
                <a:sym typeface="Arial"/>
              </a:rPr>
              <a:t>We built a time-aware supervised model using:</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Lagged obesity (previous years)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Socioeconomic conditions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Health behavior indicators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Long-term trend slopes</a:t>
            </a:r>
            <a:endParaRPr sz="1200">
              <a:solidFill>
                <a:srgbClr val="000000"/>
              </a:solidFill>
              <a:latin typeface="Arial"/>
              <a:ea typeface="Arial"/>
              <a:cs typeface="Arial"/>
              <a:sym typeface="Arial"/>
            </a:endParaRPr>
          </a:p>
          <a:p>
            <a:pPr indent="0" lvl="0" marL="0" rtl="0" algn="l">
              <a:lnSpc>
                <a:spcPct val="105000"/>
              </a:lnSpc>
              <a:spcBef>
                <a:spcPts val="1200"/>
              </a:spcBef>
              <a:spcAft>
                <a:spcPts val="0"/>
              </a:spcAft>
              <a:buNone/>
            </a:pPr>
            <a:r>
              <a:rPr lang="en" sz="1200">
                <a:solidFill>
                  <a:srgbClr val="000000"/>
                </a:solidFill>
                <a:latin typeface="Arial"/>
                <a:ea typeface="Arial"/>
                <a:cs typeface="Arial"/>
                <a:sym typeface="Arial"/>
              </a:rPr>
              <a:t>The model predicts: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b="1" lang="en" sz="1200">
                <a:solidFill>
                  <a:srgbClr val="000000"/>
                </a:solidFill>
                <a:latin typeface="Arial"/>
                <a:ea typeface="Arial"/>
                <a:cs typeface="Arial"/>
                <a:sym typeface="Arial"/>
              </a:rPr>
              <a:t>Next-year obesity rate</a:t>
            </a:r>
            <a:endParaRPr b="1" sz="1200">
              <a:solidFill>
                <a:srgbClr val="000000"/>
              </a:solidFill>
              <a:latin typeface="Arial"/>
              <a:ea typeface="Arial"/>
              <a:cs typeface="Arial"/>
              <a:sym typeface="Arial"/>
            </a:endParaRPr>
          </a:p>
          <a:p>
            <a:pPr indent="0" lvl="0" marL="0" rtl="0" algn="l">
              <a:lnSpc>
                <a:spcPct val="105000"/>
              </a:lnSpc>
              <a:spcBef>
                <a:spcPts val="1200"/>
              </a:spcBef>
              <a:spcAft>
                <a:spcPts val="0"/>
              </a:spcAft>
              <a:buNone/>
            </a:pPr>
            <a:r>
              <a:rPr lang="en" sz="1200">
                <a:solidFill>
                  <a:srgbClr val="000000"/>
                </a:solidFill>
                <a:latin typeface="Arial"/>
                <a:ea typeface="Arial"/>
                <a:cs typeface="Arial"/>
                <a:sym typeface="Arial"/>
              </a:rPr>
              <a:t>We then compute: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Residual = Actual Obesity − Predicted Obesity</a:t>
            </a:r>
            <a:endParaRPr sz="1200">
              <a:solidFill>
                <a:srgbClr val="000000"/>
              </a:solidFill>
              <a:latin typeface="Arial"/>
              <a:ea typeface="Arial"/>
              <a:cs typeface="Arial"/>
              <a:sym typeface="Arial"/>
            </a:endParaRPr>
          </a:p>
          <a:p>
            <a:pPr indent="0" lvl="0" marL="0" rtl="0" algn="l">
              <a:lnSpc>
                <a:spcPct val="105000"/>
              </a:lnSpc>
              <a:spcBef>
                <a:spcPts val="1200"/>
              </a:spcBef>
              <a:spcAft>
                <a:spcPts val="0"/>
              </a:spcAft>
              <a:buNone/>
            </a:pPr>
            <a:r>
              <a:rPr lang="en" sz="1200">
                <a:solidFill>
                  <a:srgbClr val="000000"/>
                </a:solidFill>
                <a:latin typeface="Arial"/>
                <a:ea typeface="Arial"/>
                <a:cs typeface="Arial"/>
                <a:sym typeface="Arial"/>
              </a:rPr>
              <a:t>Interpretation:</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Large positive residual → County is doing </a:t>
            </a:r>
            <a:r>
              <a:rPr b="1" lang="en" sz="1200">
                <a:solidFill>
                  <a:srgbClr val="000000"/>
                </a:solidFill>
                <a:latin typeface="Arial"/>
                <a:ea typeface="Arial"/>
                <a:cs typeface="Arial"/>
                <a:sym typeface="Arial"/>
              </a:rPr>
              <a:t>worse than expected</a:t>
            </a:r>
            <a:br>
              <a:rPr b="1"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Large negative residual → County is doing </a:t>
            </a:r>
            <a:r>
              <a:rPr b="1" lang="en" sz="1200">
                <a:solidFill>
                  <a:srgbClr val="000000"/>
                </a:solidFill>
                <a:latin typeface="Arial"/>
                <a:ea typeface="Arial"/>
                <a:cs typeface="Arial"/>
                <a:sym typeface="Arial"/>
              </a:rPr>
              <a:t>better than expected</a:t>
            </a:r>
            <a:endParaRPr b="1" sz="1200">
              <a:solidFill>
                <a:srgbClr val="000000"/>
              </a:solidFill>
              <a:latin typeface="Arial"/>
              <a:ea typeface="Arial"/>
              <a:cs typeface="Arial"/>
              <a:sym typeface="Arial"/>
            </a:endParaRPr>
          </a:p>
          <a:p>
            <a:pPr indent="0" lvl="0" marL="0" rtl="0" algn="l">
              <a:lnSpc>
                <a:spcPct val="105000"/>
              </a:lnSpc>
              <a:spcBef>
                <a:spcPts val="1200"/>
              </a:spcBef>
              <a:spcAft>
                <a:spcPts val="0"/>
              </a:spcAft>
              <a:buNone/>
            </a:pPr>
            <a:r>
              <a:rPr lang="en" sz="1200">
                <a:solidFill>
                  <a:srgbClr val="000000"/>
                </a:solidFill>
                <a:latin typeface="Arial"/>
                <a:ea typeface="Arial"/>
                <a:cs typeface="Arial"/>
                <a:sym typeface="Arial"/>
              </a:rPr>
              <a:t>This identifies: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b="1" lang="en" sz="1200">
                <a:solidFill>
                  <a:srgbClr val="000000"/>
                </a:solidFill>
                <a:latin typeface="Arial"/>
                <a:ea typeface="Arial"/>
                <a:cs typeface="Arial"/>
                <a:sym typeface="Arial"/>
              </a:rPr>
              <a:t>Silent system failure counties</a:t>
            </a:r>
            <a:br>
              <a:rPr b="1"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b="1" lang="en" sz="1200">
                <a:solidFill>
                  <a:srgbClr val="000000"/>
                </a:solidFill>
                <a:latin typeface="Arial"/>
                <a:ea typeface="Arial"/>
                <a:cs typeface="Arial"/>
                <a:sym typeface="Arial"/>
              </a:rPr>
              <a:t>Underperforming public health response zones</a:t>
            </a:r>
            <a:endParaRPr b="1" sz="1200">
              <a:solidFill>
                <a:srgbClr val="000000"/>
              </a:solidFill>
              <a:latin typeface="Arial"/>
              <a:ea typeface="Arial"/>
              <a:cs typeface="Arial"/>
              <a:sym typeface="Arial"/>
            </a:endParaRPr>
          </a:p>
          <a:p>
            <a:pPr indent="0" lvl="0" marL="0" rtl="0" algn="l">
              <a:lnSpc>
                <a:spcPct val="105000"/>
              </a:lnSpc>
              <a:spcBef>
                <a:spcPts val="1200"/>
              </a:spcBef>
              <a:spcAft>
                <a:spcPts val="1200"/>
              </a:spcAft>
              <a:buNone/>
            </a:pPr>
            <a:r>
              <a:t/>
            </a:r>
            <a:endParaRPr sz="1400"/>
          </a:p>
        </p:txBody>
      </p:sp>
      <p:sp>
        <p:nvSpPr>
          <p:cNvPr id="279" name="Google Shape;279;p37"/>
          <p:cNvSpPr txBox="1"/>
          <p:nvPr/>
        </p:nvSpPr>
        <p:spPr>
          <a:xfrm>
            <a:off x="5087350" y="1049550"/>
            <a:ext cx="3638700" cy="2803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Char char="●"/>
            </a:pPr>
            <a:r>
              <a:rPr lang="en" sz="1100"/>
              <a:t>Key numbers:</a:t>
            </a:r>
            <a:br>
              <a:rPr lang="en" sz="1100"/>
            </a:br>
            <a:endParaRPr sz="1100"/>
          </a:p>
          <a:p>
            <a:pPr indent="-298450" lvl="1" marL="914400" rtl="0" algn="l">
              <a:lnSpc>
                <a:spcPct val="115000"/>
              </a:lnSpc>
              <a:spcBef>
                <a:spcPts val="0"/>
              </a:spcBef>
              <a:spcAft>
                <a:spcPts val="0"/>
              </a:spcAft>
              <a:buSzPts val="1100"/>
              <a:buChar char="○"/>
            </a:pPr>
            <a:r>
              <a:rPr lang="en" sz="1100"/>
              <a:t>2010: ~26.5%</a:t>
            </a:r>
            <a:br>
              <a:rPr lang="en" sz="1100"/>
            </a:br>
            <a:endParaRPr sz="1100"/>
          </a:p>
          <a:p>
            <a:pPr indent="-298450" lvl="1" marL="914400" rtl="0" algn="l">
              <a:lnSpc>
                <a:spcPct val="115000"/>
              </a:lnSpc>
              <a:spcBef>
                <a:spcPts val="0"/>
              </a:spcBef>
              <a:spcAft>
                <a:spcPts val="0"/>
              </a:spcAft>
              <a:buSzPts val="1100"/>
              <a:buChar char="○"/>
            </a:pPr>
            <a:r>
              <a:rPr lang="en" sz="1100"/>
              <a:t>2023: ~31.5%</a:t>
            </a:r>
            <a:br>
              <a:rPr lang="en" sz="1100"/>
            </a:br>
            <a:endParaRPr sz="1100"/>
          </a:p>
          <a:p>
            <a:pPr indent="-298450" lvl="1" marL="914400" rtl="0" algn="l">
              <a:lnSpc>
                <a:spcPct val="115000"/>
              </a:lnSpc>
              <a:spcBef>
                <a:spcPts val="0"/>
              </a:spcBef>
              <a:spcAft>
                <a:spcPts val="0"/>
              </a:spcAft>
              <a:buSzPts val="1100"/>
              <a:buChar char="○"/>
            </a:pPr>
            <a:r>
              <a:rPr lang="en" sz="1100"/>
              <a:t>+18–19% increase</a:t>
            </a:r>
            <a:endParaRPr sz="1100"/>
          </a:p>
          <a:p>
            <a:pPr indent="0" lvl="0" marL="0" rtl="0" algn="l">
              <a:lnSpc>
                <a:spcPct val="115000"/>
              </a:lnSpc>
              <a:spcBef>
                <a:spcPts val="1200"/>
              </a:spcBef>
              <a:spcAft>
                <a:spcPts val="0"/>
              </a:spcAft>
              <a:buNone/>
            </a:pPr>
            <a:r>
              <a:t/>
            </a:r>
            <a:endParaRPr sz="1100"/>
          </a:p>
          <a:p>
            <a:pPr indent="-298450" lvl="0" marL="457200" marR="381000" rtl="0" algn="l">
              <a:lnSpc>
                <a:spcPct val="115000"/>
              </a:lnSpc>
              <a:spcBef>
                <a:spcPts val="1200"/>
              </a:spcBef>
              <a:spcAft>
                <a:spcPts val="0"/>
              </a:spcAft>
              <a:buSzPts val="1100"/>
              <a:buChar char="●"/>
            </a:pPr>
            <a:r>
              <a:rPr lang="en" sz="1100"/>
              <a:t>Obesity is not static — it shows a persistent upward national trajectory, justifying long-term forecasting and early-warning modeling.</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8"/>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Hybrid ML </a:t>
            </a:r>
            <a:r>
              <a:rPr lang="en"/>
              <a:t>FORECASTING Model ( 2024 - 2030)</a:t>
            </a:r>
            <a:endParaRPr/>
          </a:p>
        </p:txBody>
      </p:sp>
      <p:sp>
        <p:nvSpPr>
          <p:cNvPr id="285" name="Google Shape;285;p38"/>
          <p:cNvSpPr txBox="1"/>
          <p:nvPr>
            <p:ph idx="1" type="body"/>
          </p:nvPr>
        </p:nvSpPr>
        <p:spPr>
          <a:xfrm>
            <a:off x="0" y="598900"/>
            <a:ext cx="9065700" cy="4497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200">
                <a:solidFill>
                  <a:srgbClr val="000000"/>
                </a:solidFill>
                <a:latin typeface="Arial"/>
                <a:ea typeface="Arial"/>
                <a:cs typeface="Arial"/>
                <a:sym typeface="Arial"/>
              </a:rPr>
              <a:t>Long-Term Obesity Forecasting to 2030 (Strategic Planning)</a:t>
            </a:r>
            <a:endParaRPr sz="1200">
              <a:solidFill>
                <a:srgbClr val="000000"/>
              </a:solidFill>
              <a:latin typeface="Arial"/>
              <a:ea typeface="Arial"/>
              <a:cs typeface="Arial"/>
              <a:sym typeface="Arial"/>
            </a:endParaRPr>
          </a:p>
          <a:p>
            <a:pPr indent="0" lvl="0" marL="0" rtl="0" algn="l">
              <a:spcBef>
                <a:spcPts val="1200"/>
              </a:spcBef>
              <a:spcAft>
                <a:spcPts val="0"/>
              </a:spcAft>
              <a:buNone/>
            </a:pPr>
            <a:r>
              <a:t/>
            </a:r>
            <a:endParaRPr sz="12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Using multi-year temporal patterns, we projected:</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b="1" lang="en" sz="1200">
                <a:solidFill>
                  <a:srgbClr val="000000"/>
                </a:solidFill>
                <a:latin typeface="Arial"/>
                <a:ea typeface="Arial"/>
                <a:cs typeface="Arial"/>
                <a:sym typeface="Arial"/>
              </a:rPr>
              <a:t>County-level obesity rates forward to 2030</a:t>
            </a:r>
            <a:endParaRPr b="1" sz="1200">
              <a:solidFill>
                <a:srgbClr val="000000"/>
              </a:solidFill>
              <a:latin typeface="Arial"/>
              <a:ea typeface="Arial"/>
              <a:cs typeface="Arial"/>
              <a:sym typeface="Arial"/>
            </a:endParaRPr>
          </a:p>
          <a:p>
            <a:pPr indent="0" lvl="0" marL="0" rtl="0" algn="l">
              <a:spcBef>
                <a:spcPts val="1200"/>
              </a:spcBef>
              <a:spcAft>
                <a:spcPts val="0"/>
              </a:spcAft>
              <a:buNone/>
            </a:pPr>
            <a:r>
              <a:rPr b="1" lang="en" sz="1200">
                <a:solidFill>
                  <a:srgbClr val="000000"/>
                </a:solidFill>
                <a:latin typeface="Arial"/>
                <a:ea typeface="Arial"/>
                <a:cs typeface="Arial"/>
                <a:sym typeface="Arial"/>
              </a:rPr>
              <a:t>R2: 0.69, RMSE: 0.00046</a:t>
            </a:r>
            <a:endParaRPr b="1" sz="12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lang="en" sz="1200">
                <a:solidFill>
                  <a:srgbClr val="000000"/>
                </a:solidFill>
                <a:latin typeface="Arial"/>
                <a:ea typeface="Arial"/>
                <a:cs typeface="Arial"/>
                <a:sym typeface="Arial"/>
              </a:rPr>
              <a:t>We compute: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lang="en" sz="1100">
                <a:solidFill>
                  <a:srgbClr val="000000"/>
                </a:solidFill>
                <a:latin typeface="Arial"/>
                <a:ea typeface="Arial"/>
                <a:cs typeface="Arial"/>
                <a:sym typeface="Arial"/>
              </a:rPr>
              <a:t>Inputs: Lagged obesity, Current drivers, Static cluster,</a:t>
            </a:r>
            <a:endParaRPr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lang="en" sz="1100">
                <a:solidFill>
                  <a:srgbClr val="000000"/>
                </a:solidFill>
                <a:latin typeface="Arial"/>
                <a:ea typeface="Arial"/>
                <a:cs typeface="Arial"/>
                <a:sym typeface="Arial"/>
              </a:rPr>
              <a:t>Trend regime, Slopes</a:t>
            </a:r>
            <a:endParaRPr sz="12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This identifies:</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Counties that will remain structurally high-risk</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Counties that will newly cross into high-risk</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Counties projected to improve</a:t>
            </a:r>
            <a:endParaRPr sz="12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Purpose:</a:t>
            </a:r>
            <a:br>
              <a:rPr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b="1" lang="en" sz="1200">
                <a:solidFill>
                  <a:srgbClr val="000000"/>
                </a:solidFill>
                <a:latin typeface="Arial"/>
                <a:ea typeface="Arial"/>
                <a:cs typeface="Arial"/>
                <a:sym typeface="Arial"/>
              </a:rPr>
              <a:t>Infrastructure planning</a:t>
            </a:r>
            <a:br>
              <a:rPr b="1"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b="1" lang="en" sz="1200">
                <a:solidFill>
                  <a:srgbClr val="000000"/>
                </a:solidFill>
                <a:latin typeface="Arial"/>
                <a:ea typeface="Arial"/>
                <a:cs typeface="Arial"/>
                <a:sym typeface="Arial"/>
              </a:rPr>
              <a:t>Long-term prevention policy</a:t>
            </a:r>
            <a:br>
              <a:rPr b="1" lang="en" sz="1200">
                <a:solidFill>
                  <a:srgbClr val="000000"/>
                </a:solidFill>
                <a:latin typeface="Arial"/>
                <a:ea typeface="Arial"/>
                <a:cs typeface="Arial"/>
                <a:sym typeface="Arial"/>
              </a:rPr>
            </a:br>
            <a:r>
              <a:rPr lang="en" sz="1200">
                <a:solidFill>
                  <a:srgbClr val="000000"/>
                </a:solidFill>
                <a:latin typeface="Arial"/>
                <a:ea typeface="Arial"/>
                <a:cs typeface="Arial"/>
                <a:sym typeface="Arial"/>
              </a:rPr>
              <a:t> → </a:t>
            </a:r>
            <a:r>
              <a:rPr b="1" lang="en" sz="1200">
                <a:solidFill>
                  <a:srgbClr val="000000"/>
                </a:solidFill>
                <a:latin typeface="Arial"/>
                <a:ea typeface="Arial"/>
                <a:cs typeface="Arial"/>
                <a:sym typeface="Arial"/>
              </a:rPr>
              <a:t>Proactive hotspot prevention</a:t>
            </a:r>
            <a:endParaRPr b="1" sz="1200">
              <a:solidFill>
                <a:srgbClr val="000000"/>
              </a:solidFill>
              <a:latin typeface="Arial"/>
              <a:ea typeface="Arial"/>
              <a:cs typeface="Arial"/>
              <a:sym typeface="Arial"/>
            </a:endParaRPr>
          </a:p>
          <a:p>
            <a:pPr indent="0" lvl="0" marL="0" rtl="0" algn="l">
              <a:spcBef>
                <a:spcPts val="1200"/>
              </a:spcBef>
              <a:spcAft>
                <a:spcPts val="1200"/>
              </a:spcAft>
              <a:buNone/>
            </a:pPr>
            <a:r>
              <a:t/>
            </a:r>
            <a:endParaRPr sz="1400"/>
          </a:p>
        </p:txBody>
      </p:sp>
      <p:pic>
        <p:nvPicPr>
          <p:cNvPr id="286" name="Google Shape;286;p38"/>
          <p:cNvPicPr preferRelativeResize="0"/>
          <p:nvPr/>
        </p:nvPicPr>
        <p:blipFill>
          <a:blip r:embed="rId3">
            <a:alphaModFix/>
          </a:blip>
          <a:stretch>
            <a:fillRect/>
          </a:stretch>
        </p:blipFill>
        <p:spPr>
          <a:xfrm>
            <a:off x="4077855" y="1256500"/>
            <a:ext cx="5066149" cy="28535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6449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MCDM Risk Scoring (Structural Vulnerability)</a:t>
            </a:r>
            <a:endParaRPr/>
          </a:p>
        </p:txBody>
      </p:sp>
      <p:sp>
        <p:nvSpPr>
          <p:cNvPr id="292" name="Google Shape;292;p39"/>
          <p:cNvSpPr txBox="1"/>
          <p:nvPr>
            <p:ph idx="1" type="body"/>
          </p:nvPr>
        </p:nvSpPr>
        <p:spPr>
          <a:xfrm>
            <a:off x="497075" y="822050"/>
            <a:ext cx="8395800" cy="40785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1200"/>
              </a:spcAft>
              <a:buSzPts val="275"/>
              <a:buNone/>
            </a:pPr>
            <a:r>
              <a:t/>
            </a:r>
            <a:endParaRPr sz="825">
              <a:solidFill>
                <a:srgbClr val="000000"/>
              </a:solidFill>
              <a:latin typeface="Arial"/>
              <a:ea typeface="Arial"/>
              <a:cs typeface="Arial"/>
              <a:sym typeface="Arial"/>
            </a:endParaRPr>
          </a:p>
        </p:txBody>
      </p:sp>
      <p:pic>
        <p:nvPicPr>
          <p:cNvPr id="293" name="Google Shape;293;p39"/>
          <p:cNvPicPr preferRelativeResize="0"/>
          <p:nvPr/>
        </p:nvPicPr>
        <p:blipFill>
          <a:blip r:embed="rId3">
            <a:alphaModFix/>
          </a:blip>
          <a:stretch>
            <a:fillRect/>
          </a:stretch>
        </p:blipFill>
        <p:spPr>
          <a:xfrm>
            <a:off x="2267865" y="535200"/>
            <a:ext cx="6786225" cy="4145100"/>
          </a:xfrm>
          <a:prstGeom prst="rect">
            <a:avLst/>
          </a:prstGeom>
          <a:noFill/>
          <a:ln>
            <a:noFill/>
          </a:ln>
        </p:spPr>
      </p:pic>
      <p:pic>
        <p:nvPicPr>
          <p:cNvPr id="294" name="Google Shape;294;p39"/>
          <p:cNvPicPr preferRelativeResize="0"/>
          <p:nvPr/>
        </p:nvPicPr>
        <p:blipFill>
          <a:blip r:embed="rId4">
            <a:alphaModFix/>
          </a:blip>
          <a:stretch>
            <a:fillRect/>
          </a:stretch>
        </p:blipFill>
        <p:spPr>
          <a:xfrm>
            <a:off x="4" y="1336938"/>
            <a:ext cx="3143675" cy="28974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62250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Residual Map</a:t>
            </a:r>
            <a:endParaRPr/>
          </a:p>
        </p:txBody>
      </p:sp>
      <p:sp>
        <p:nvSpPr>
          <p:cNvPr id="300" name="Google Shape;300;p40"/>
          <p:cNvSpPr txBox="1"/>
          <p:nvPr>
            <p:ph idx="1" type="body"/>
          </p:nvPr>
        </p:nvSpPr>
        <p:spPr>
          <a:xfrm>
            <a:off x="194450" y="807025"/>
            <a:ext cx="8221800" cy="4103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pic>
        <p:nvPicPr>
          <p:cNvPr id="301" name="Google Shape;301;p40"/>
          <p:cNvPicPr preferRelativeResize="0"/>
          <p:nvPr/>
        </p:nvPicPr>
        <p:blipFill>
          <a:blip r:embed="rId3">
            <a:alphaModFix/>
          </a:blip>
          <a:stretch>
            <a:fillRect/>
          </a:stretch>
        </p:blipFill>
        <p:spPr>
          <a:xfrm>
            <a:off x="9300" y="1649375"/>
            <a:ext cx="3754501" cy="781400"/>
          </a:xfrm>
          <a:prstGeom prst="rect">
            <a:avLst/>
          </a:prstGeom>
          <a:noFill/>
          <a:ln>
            <a:noFill/>
          </a:ln>
        </p:spPr>
      </p:pic>
      <p:sp>
        <p:nvSpPr>
          <p:cNvPr id="302" name="Google Shape;302;p40"/>
          <p:cNvSpPr txBox="1"/>
          <p:nvPr/>
        </p:nvSpPr>
        <p:spPr>
          <a:xfrm>
            <a:off x="622500" y="1186675"/>
            <a:ext cx="2528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Worst Performing Counties</a:t>
            </a:r>
            <a:endParaRPr sz="1300">
              <a:solidFill>
                <a:schemeClr val="accent1"/>
              </a:solidFill>
              <a:latin typeface="Lato"/>
              <a:ea typeface="Lato"/>
              <a:cs typeface="Lato"/>
              <a:sym typeface="Lato"/>
            </a:endParaRPr>
          </a:p>
        </p:txBody>
      </p:sp>
      <p:sp>
        <p:nvSpPr>
          <p:cNvPr id="303" name="Google Shape;303;p40"/>
          <p:cNvSpPr txBox="1"/>
          <p:nvPr/>
        </p:nvSpPr>
        <p:spPr>
          <a:xfrm>
            <a:off x="583400" y="2771075"/>
            <a:ext cx="211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Best Performing Counties</a:t>
            </a:r>
            <a:endParaRPr sz="1300">
              <a:solidFill>
                <a:schemeClr val="accent1"/>
              </a:solidFill>
              <a:latin typeface="Lato"/>
              <a:ea typeface="Lato"/>
              <a:cs typeface="Lato"/>
              <a:sym typeface="Lato"/>
            </a:endParaRPr>
          </a:p>
        </p:txBody>
      </p:sp>
      <p:pic>
        <p:nvPicPr>
          <p:cNvPr id="304" name="Google Shape;304;p40"/>
          <p:cNvPicPr preferRelativeResize="0"/>
          <p:nvPr/>
        </p:nvPicPr>
        <p:blipFill>
          <a:blip r:embed="rId4">
            <a:alphaModFix/>
          </a:blip>
          <a:stretch>
            <a:fillRect/>
          </a:stretch>
        </p:blipFill>
        <p:spPr>
          <a:xfrm>
            <a:off x="9313" y="3155968"/>
            <a:ext cx="3754465" cy="781400"/>
          </a:xfrm>
          <a:prstGeom prst="rect">
            <a:avLst/>
          </a:prstGeom>
          <a:noFill/>
          <a:ln>
            <a:noFill/>
          </a:ln>
        </p:spPr>
      </p:pic>
      <p:pic>
        <p:nvPicPr>
          <p:cNvPr id="305" name="Google Shape;305;p40"/>
          <p:cNvPicPr preferRelativeResize="0"/>
          <p:nvPr/>
        </p:nvPicPr>
        <p:blipFill>
          <a:blip r:embed="rId5">
            <a:alphaModFix/>
          </a:blip>
          <a:stretch>
            <a:fillRect/>
          </a:stretch>
        </p:blipFill>
        <p:spPr>
          <a:xfrm>
            <a:off x="3296125" y="1033975"/>
            <a:ext cx="5847875" cy="3671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1"/>
          <p:cNvSpPr txBox="1"/>
          <p:nvPr>
            <p:ph type="title"/>
          </p:nvPr>
        </p:nvSpPr>
        <p:spPr>
          <a:xfrm>
            <a:off x="573875" y="54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40"/>
              <a:t>Where Physical Activity Investments Are Most Efficient?</a:t>
            </a:r>
            <a:endParaRPr sz="2140"/>
          </a:p>
        </p:txBody>
      </p:sp>
      <p:sp>
        <p:nvSpPr>
          <p:cNvPr id="311" name="Google Shape;311;p41"/>
          <p:cNvSpPr txBox="1"/>
          <p:nvPr>
            <p:ph idx="1" type="body"/>
          </p:nvPr>
        </p:nvSpPr>
        <p:spPr>
          <a:xfrm>
            <a:off x="175025" y="894525"/>
            <a:ext cx="3082200" cy="3889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sz="1100">
                <a:solidFill>
                  <a:srgbClr val="000000"/>
                </a:solidFill>
                <a:latin typeface="Arial"/>
                <a:ea typeface="Arial"/>
                <a:cs typeface="Arial"/>
                <a:sym typeface="Arial"/>
              </a:rPr>
              <a:t>Simulated a </a:t>
            </a:r>
            <a:r>
              <a:rPr b="1" lang="en" sz="1100">
                <a:solidFill>
                  <a:srgbClr val="000000"/>
                </a:solidFill>
                <a:latin typeface="Arial"/>
                <a:ea typeface="Arial"/>
                <a:cs typeface="Arial"/>
                <a:sym typeface="Arial"/>
              </a:rPr>
              <a:t>10% reduction in physical inactivity</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Computed:</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Obesity Reduction Potential = Baseline − Simulated</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Efficiency Score = Reduction / Inactivity Rate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High efficiency counties = </a:t>
            </a:r>
            <a:r>
              <a:rPr b="1" lang="en" sz="1100">
                <a:solidFill>
                  <a:srgbClr val="000000"/>
                </a:solidFill>
                <a:latin typeface="Arial"/>
                <a:ea typeface="Arial"/>
                <a:cs typeface="Arial"/>
                <a:sym typeface="Arial"/>
              </a:rPr>
              <a:t>best ROI for intervention</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These counties show </a:t>
            </a:r>
            <a:r>
              <a:rPr b="1" lang="en" sz="1100">
                <a:solidFill>
                  <a:srgbClr val="000000"/>
                </a:solidFill>
                <a:latin typeface="Arial"/>
                <a:ea typeface="Arial"/>
                <a:cs typeface="Arial"/>
                <a:sym typeface="Arial"/>
              </a:rPr>
              <a:t>strong obesity response to small activity gains</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Allows </a:t>
            </a:r>
            <a:r>
              <a:rPr b="1" lang="en" sz="1100">
                <a:solidFill>
                  <a:srgbClr val="000000"/>
                </a:solidFill>
                <a:latin typeface="Arial"/>
                <a:ea typeface="Arial"/>
                <a:cs typeface="Arial"/>
                <a:sym typeface="Arial"/>
              </a:rPr>
              <a:t>targeted deployment</a:t>
            </a:r>
            <a:r>
              <a:rPr lang="en" sz="1100">
                <a:solidFill>
                  <a:srgbClr val="000000"/>
                </a:solidFill>
                <a:latin typeface="Arial"/>
                <a:ea typeface="Arial"/>
                <a:cs typeface="Arial"/>
                <a:sym typeface="Arial"/>
              </a:rPr>
              <a:t> of fitness infrastructure &amp; programs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More cost-effective than uniform nationwide intervention</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312" name="Google Shape;312;p41"/>
          <p:cNvPicPr preferRelativeResize="0"/>
          <p:nvPr/>
        </p:nvPicPr>
        <p:blipFill>
          <a:blip r:embed="rId3">
            <a:alphaModFix/>
          </a:blip>
          <a:stretch>
            <a:fillRect/>
          </a:stretch>
        </p:blipFill>
        <p:spPr>
          <a:xfrm>
            <a:off x="3342300" y="957725"/>
            <a:ext cx="5801701" cy="36996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2"/>
          <p:cNvSpPr txBox="1"/>
          <p:nvPr>
            <p:ph type="title"/>
          </p:nvPr>
        </p:nvSpPr>
        <p:spPr>
          <a:xfrm>
            <a:off x="553300" y="614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Business / Public Health Value</a:t>
            </a:r>
            <a:endParaRPr/>
          </a:p>
        </p:txBody>
      </p:sp>
      <p:sp>
        <p:nvSpPr>
          <p:cNvPr id="318" name="Google Shape;318;p42"/>
          <p:cNvSpPr txBox="1"/>
          <p:nvPr>
            <p:ph idx="1" type="body"/>
          </p:nvPr>
        </p:nvSpPr>
        <p:spPr>
          <a:xfrm>
            <a:off x="553300" y="1573925"/>
            <a:ext cx="8455200" cy="3064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n" sz="1112">
                <a:solidFill>
                  <a:schemeClr val="dk2"/>
                </a:solidFill>
              </a:rPr>
              <a:t>Instead of asking only where obesity is high, this system enables public health agencies to identify:</a:t>
            </a:r>
            <a:endParaRPr sz="1112">
              <a:solidFill>
                <a:schemeClr val="dk2"/>
              </a:solidFill>
            </a:endParaRPr>
          </a:p>
          <a:p>
            <a:pPr indent="0" lvl="0" marL="0" rtl="0" algn="l">
              <a:lnSpc>
                <a:spcPct val="95000"/>
              </a:lnSpc>
              <a:spcBef>
                <a:spcPts val="1200"/>
              </a:spcBef>
              <a:spcAft>
                <a:spcPts val="0"/>
              </a:spcAft>
              <a:buSzPts val="688"/>
              <a:buNone/>
            </a:pPr>
            <a:r>
              <a:t/>
            </a:r>
            <a:endParaRPr sz="1112">
              <a:solidFill>
                <a:schemeClr val="dk2"/>
              </a:solidFill>
            </a:endParaRPr>
          </a:p>
          <a:p>
            <a:pPr indent="0" lvl="0" marL="0" rtl="0" algn="l">
              <a:lnSpc>
                <a:spcPct val="95000"/>
              </a:lnSpc>
              <a:spcBef>
                <a:spcPts val="1200"/>
              </a:spcBef>
              <a:spcAft>
                <a:spcPts val="0"/>
              </a:spcAft>
              <a:buSzPts val="688"/>
              <a:buNone/>
            </a:pPr>
            <a:r>
              <a:rPr lang="en" sz="1112">
                <a:solidFill>
                  <a:schemeClr val="dk2"/>
                </a:solidFill>
              </a:rPr>
              <a:t>• Where the health system is underperforming  </a:t>
            </a:r>
            <a:endParaRPr sz="1112">
              <a:solidFill>
                <a:schemeClr val="dk2"/>
              </a:solidFill>
            </a:endParaRPr>
          </a:p>
          <a:p>
            <a:pPr indent="0" lvl="0" marL="0" rtl="0" algn="l">
              <a:lnSpc>
                <a:spcPct val="95000"/>
              </a:lnSpc>
              <a:spcBef>
                <a:spcPts val="1200"/>
              </a:spcBef>
              <a:spcAft>
                <a:spcPts val="0"/>
              </a:spcAft>
              <a:buSzPts val="688"/>
              <a:buNone/>
            </a:pPr>
            <a:r>
              <a:rPr lang="en" sz="1112">
                <a:solidFill>
                  <a:schemeClr val="dk2"/>
                </a:solidFill>
              </a:rPr>
              <a:t>• Where limited funding will generate the highest obesity reduction  </a:t>
            </a:r>
            <a:endParaRPr sz="1112">
              <a:solidFill>
                <a:schemeClr val="dk2"/>
              </a:solidFill>
            </a:endParaRPr>
          </a:p>
          <a:p>
            <a:pPr indent="0" lvl="0" marL="0" rtl="0" algn="l">
              <a:lnSpc>
                <a:spcPct val="95000"/>
              </a:lnSpc>
              <a:spcBef>
                <a:spcPts val="1200"/>
              </a:spcBef>
              <a:spcAft>
                <a:spcPts val="0"/>
              </a:spcAft>
              <a:buSzPts val="688"/>
              <a:buNone/>
            </a:pPr>
            <a:r>
              <a:rPr lang="en" sz="1112">
                <a:solidFill>
                  <a:schemeClr val="dk2"/>
                </a:solidFill>
              </a:rPr>
              <a:t>• Which counties represent emergency intervention zones  </a:t>
            </a:r>
            <a:endParaRPr sz="1112">
              <a:solidFill>
                <a:schemeClr val="dk2"/>
              </a:solidFill>
            </a:endParaRPr>
          </a:p>
          <a:p>
            <a:pPr indent="0" lvl="0" marL="0" rtl="0" algn="l">
              <a:lnSpc>
                <a:spcPct val="95000"/>
              </a:lnSpc>
              <a:spcBef>
                <a:spcPts val="1200"/>
              </a:spcBef>
              <a:spcAft>
                <a:spcPts val="0"/>
              </a:spcAft>
              <a:buNone/>
            </a:pPr>
            <a:r>
              <a:rPr lang="en" sz="1112">
                <a:solidFill>
                  <a:schemeClr val="dk2"/>
                </a:solidFill>
              </a:rPr>
              <a:t>• Which policy levers should be prioritized first for maximum impact</a:t>
            </a:r>
            <a:endParaRPr sz="1112">
              <a:solidFill>
                <a:schemeClr val="dk2"/>
              </a:solidFill>
            </a:endParaRPr>
          </a:p>
          <a:p>
            <a:pPr indent="-299243" lvl="0" marL="457200" rtl="0" algn="l">
              <a:lnSpc>
                <a:spcPct val="95000"/>
              </a:lnSpc>
              <a:spcBef>
                <a:spcPts val="1200"/>
              </a:spcBef>
              <a:spcAft>
                <a:spcPts val="0"/>
              </a:spcAft>
              <a:buClr>
                <a:schemeClr val="dk2"/>
              </a:buClr>
              <a:buSzPts val="1113"/>
              <a:buChar char="●"/>
            </a:pPr>
            <a:r>
              <a:rPr lang="en" sz="1112">
                <a:solidFill>
                  <a:schemeClr val="dk2"/>
                </a:solidFill>
              </a:rPr>
              <a:t>Where will future hotspots emerge?</a:t>
            </a:r>
            <a:endParaRPr sz="1112">
              <a:solidFill>
                <a:schemeClr val="dk2"/>
              </a:solidFill>
            </a:endParaRPr>
          </a:p>
          <a:p>
            <a:pPr indent="0" lvl="0" marL="0" rtl="0" algn="l">
              <a:lnSpc>
                <a:spcPct val="95000"/>
              </a:lnSpc>
              <a:spcBef>
                <a:spcPts val="1200"/>
              </a:spcBef>
              <a:spcAft>
                <a:spcPts val="0"/>
              </a:spcAft>
              <a:buSzPts val="688"/>
              <a:buNone/>
            </a:pPr>
            <a:r>
              <a:t/>
            </a:r>
            <a:endParaRPr sz="1112">
              <a:solidFill>
                <a:schemeClr val="dk2"/>
              </a:solidFill>
            </a:endParaRPr>
          </a:p>
          <a:p>
            <a:pPr indent="0" lvl="0" marL="0" rtl="0" algn="l">
              <a:lnSpc>
                <a:spcPct val="95000"/>
              </a:lnSpc>
              <a:spcBef>
                <a:spcPts val="1200"/>
              </a:spcBef>
              <a:spcAft>
                <a:spcPts val="0"/>
              </a:spcAft>
              <a:buSzPts val="688"/>
              <a:buNone/>
            </a:pPr>
            <a:r>
              <a:rPr lang="en" sz="1112">
                <a:solidFill>
                  <a:schemeClr val="dk2"/>
                </a:solidFill>
              </a:rPr>
              <a:t>This transforms obesity response from reactive reporting to proactive, data-driven intervention planning.</a:t>
            </a:r>
            <a:endParaRPr sz="1112">
              <a:solidFill>
                <a:schemeClr val="dk2"/>
              </a:solidFill>
            </a:endParaRPr>
          </a:p>
          <a:p>
            <a:pPr indent="0" lvl="0" marL="0" rtl="0" algn="l">
              <a:lnSpc>
                <a:spcPct val="95000"/>
              </a:lnSpc>
              <a:spcBef>
                <a:spcPts val="1200"/>
              </a:spcBef>
              <a:spcAft>
                <a:spcPts val="1200"/>
              </a:spcAft>
              <a:buSzPts val="688"/>
              <a:buNone/>
            </a:pPr>
            <a:r>
              <a:rPr lang="en" sz="1112">
                <a:solidFill>
                  <a:schemeClr val="dk2"/>
                </a:solidFill>
              </a:rPr>
              <a:t>Our system enables governments to prioritize counties using three layers of intelligence: structural vulnerability, early system failure, and long-term future risk.</a:t>
            </a:r>
            <a:endParaRPr sz="1112">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a:t>
            </a:r>
            <a:endParaRPr/>
          </a:p>
        </p:txBody>
      </p:sp>
      <p:sp>
        <p:nvSpPr>
          <p:cNvPr id="324" name="Google Shape;324;p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Analysis is based on county-level aggregates, not individual behavior  </a:t>
            </a:r>
            <a:endParaRPr sz="1600"/>
          </a:p>
          <a:p>
            <a:pPr indent="0" lvl="0" marL="0" rtl="0" algn="l">
              <a:spcBef>
                <a:spcPts val="1200"/>
              </a:spcBef>
              <a:spcAft>
                <a:spcPts val="0"/>
              </a:spcAft>
              <a:buNone/>
            </a:pPr>
            <a:r>
              <a:rPr lang="en" sz="1600"/>
              <a:t>• Dietary intake and built-environment variables were unavailable  </a:t>
            </a:r>
            <a:endParaRPr sz="1600"/>
          </a:p>
          <a:p>
            <a:pPr indent="0" lvl="0" marL="0" rtl="0" algn="l">
              <a:spcBef>
                <a:spcPts val="1200"/>
              </a:spcBef>
              <a:spcAft>
                <a:spcPts val="0"/>
              </a:spcAft>
              <a:buNone/>
            </a:pPr>
            <a:r>
              <a:rPr lang="en" sz="1600"/>
              <a:t>• All relationships are observational and not strictly causal</a:t>
            </a:r>
            <a:endParaRPr sz="1600"/>
          </a:p>
          <a:p>
            <a:pPr indent="0" lvl="0" marL="0" rtl="0" algn="l">
              <a:spcBef>
                <a:spcPts val="1200"/>
              </a:spcBef>
              <a:spcAft>
                <a:spcPts val="1200"/>
              </a:spcAft>
              <a:buNone/>
            </a:pPr>
            <a:r>
              <a:rPr lang="en" sz="1600"/>
              <a:t>• The final predictive model explains approximately 70% of obesity variance  </a:t>
            </a:r>
            <a:endParaRPr sz="1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330" name="Google Shape;330;p4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Integrate individual-level behavioral and dietary data for stronger causal modeling  </a:t>
            </a:r>
            <a:endParaRPr/>
          </a:p>
          <a:p>
            <a:pPr indent="0" lvl="0" marL="0" rtl="0" algn="l">
              <a:spcBef>
                <a:spcPts val="1200"/>
              </a:spcBef>
              <a:spcAft>
                <a:spcPts val="0"/>
              </a:spcAft>
              <a:buNone/>
            </a:pPr>
            <a:r>
              <a:rPr lang="en"/>
              <a:t>• Incorporate built-environment features such as walkability, food deserts, and transit access  </a:t>
            </a:r>
            <a:endParaRPr/>
          </a:p>
          <a:p>
            <a:pPr indent="0" lvl="0" marL="0" rtl="0" algn="l">
              <a:spcBef>
                <a:spcPts val="1200"/>
              </a:spcBef>
              <a:spcAft>
                <a:spcPts val="0"/>
              </a:spcAft>
              <a:buNone/>
            </a:pPr>
            <a:r>
              <a:rPr lang="en"/>
              <a:t>• Extend to age based, education  categorization to address them efficiently </a:t>
            </a:r>
            <a:endParaRPr/>
          </a:p>
          <a:p>
            <a:pPr indent="0" lvl="0" marL="0" rtl="0" algn="l">
              <a:spcBef>
                <a:spcPts val="1200"/>
              </a:spcBef>
              <a:spcAft>
                <a:spcPts val="1200"/>
              </a:spcAft>
              <a:buNone/>
            </a:pPr>
            <a:r>
              <a:rPr lang="en"/>
              <a:t>• Explore causal inference models to move beyond association into policy impact estimation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36" name="Google Shape;336;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lang="en" sz="1017"/>
              <a:t>This project transforms obesity analytics from descriptive mapping into an actionable national-scale public health decision support system.</a:t>
            </a:r>
            <a:endParaRPr sz="1017"/>
          </a:p>
          <a:p>
            <a:pPr indent="0" lvl="0" marL="0" rtl="0" algn="l">
              <a:lnSpc>
                <a:spcPct val="95000"/>
              </a:lnSpc>
              <a:spcBef>
                <a:spcPts val="1200"/>
              </a:spcBef>
              <a:spcAft>
                <a:spcPts val="0"/>
              </a:spcAft>
              <a:buSzPts val="523"/>
              <a:buNone/>
            </a:pPr>
            <a:r>
              <a:t/>
            </a:r>
            <a:endParaRPr sz="1017"/>
          </a:p>
          <a:p>
            <a:pPr indent="0" lvl="0" marL="0" rtl="0" algn="l">
              <a:lnSpc>
                <a:spcPct val="95000"/>
              </a:lnSpc>
              <a:spcBef>
                <a:spcPts val="1200"/>
              </a:spcBef>
              <a:spcAft>
                <a:spcPts val="0"/>
              </a:spcAft>
              <a:buSzPts val="523"/>
              <a:buNone/>
            </a:pPr>
            <a:r>
              <a:rPr lang="en" sz="1017"/>
              <a:t>By integrating:</a:t>
            </a:r>
            <a:endParaRPr sz="1017"/>
          </a:p>
          <a:p>
            <a:pPr indent="0" lvl="0" marL="0" rtl="0" algn="l">
              <a:lnSpc>
                <a:spcPct val="95000"/>
              </a:lnSpc>
              <a:spcBef>
                <a:spcPts val="1200"/>
              </a:spcBef>
              <a:spcAft>
                <a:spcPts val="0"/>
              </a:spcAft>
              <a:buSzPts val="523"/>
              <a:buNone/>
            </a:pPr>
            <a:r>
              <a:rPr lang="en" sz="1017"/>
              <a:t>• Machine learning prediction  </a:t>
            </a:r>
            <a:endParaRPr sz="1017"/>
          </a:p>
          <a:p>
            <a:pPr indent="0" lvl="0" marL="0" rtl="0" algn="l">
              <a:lnSpc>
                <a:spcPct val="95000"/>
              </a:lnSpc>
              <a:spcBef>
                <a:spcPts val="1200"/>
              </a:spcBef>
              <a:spcAft>
                <a:spcPts val="0"/>
              </a:spcAft>
              <a:buSzPts val="523"/>
              <a:buNone/>
            </a:pPr>
            <a:r>
              <a:rPr lang="en" sz="1017"/>
              <a:t>• Risk-based multi-criteria decision modeling  </a:t>
            </a:r>
            <a:endParaRPr sz="1017"/>
          </a:p>
          <a:p>
            <a:pPr indent="0" lvl="0" marL="0" rtl="0" algn="l">
              <a:lnSpc>
                <a:spcPct val="95000"/>
              </a:lnSpc>
              <a:spcBef>
                <a:spcPts val="1200"/>
              </a:spcBef>
              <a:spcAft>
                <a:spcPts val="0"/>
              </a:spcAft>
              <a:buSzPts val="523"/>
              <a:buNone/>
            </a:pPr>
            <a:r>
              <a:rPr lang="en" sz="1017"/>
              <a:t>• Forecasting Model</a:t>
            </a:r>
            <a:endParaRPr sz="1017"/>
          </a:p>
          <a:p>
            <a:pPr indent="0" lvl="0" marL="0" rtl="0" algn="l">
              <a:lnSpc>
                <a:spcPct val="95000"/>
              </a:lnSpc>
              <a:spcBef>
                <a:spcPts val="1200"/>
              </a:spcBef>
              <a:spcAft>
                <a:spcPts val="0"/>
              </a:spcAft>
              <a:buSzPts val="523"/>
              <a:buNone/>
            </a:pPr>
            <a:r>
              <a:rPr lang="en" sz="1017"/>
              <a:t>• And intervention efficiency simulation  </a:t>
            </a:r>
            <a:endParaRPr sz="1017"/>
          </a:p>
          <a:p>
            <a:pPr indent="0" lvl="0" marL="0" rtl="0" algn="l">
              <a:lnSpc>
                <a:spcPct val="95000"/>
              </a:lnSpc>
              <a:spcBef>
                <a:spcPts val="1200"/>
              </a:spcBef>
              <a:spcAft>
                <a:spcPts val="0"/>
              </a:spcAft>
              <a:buSzPts val="523"/>
              <a:buNone/>
            </a:pPr>
            <a:r>
              <a:t/>
            </a:r>
            <a:endParaRPr sz="1017"/>
          </a:p>
          <a:p>
            <a:pPr indent="0" lvl="0" marL="0" rtl="0" algn="l">
              <a:lnSpc>
                <a:spcPct val="95000"/>
              </a:lnSpc>
              <a:spcBef>
                <a:spcPts val="1200"/>
              </a:spcBef>
              <a:spcAft>
                <a:spcPts val="1200"/>
              </a:spcAft>
              <a:buSzPts val="523"/>
              <a:buNone/>
            </a:pPr>
            <a:r>
              <a:rPr lang="en" sz="1017"/>
              <a:t>The framework enables targeted, cost-effective, and evidence-driven obesity intervention planning.</a:t>
            </a:r>
            <a:endParaRPr sz="1017"/>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